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sp>
        <p:nvSpPr>
          <p:cNvPr id="6" name="TextBox 5"/>
          <p:cNvSpPr txBox="1"/>
          <p:nvPr/>
        </p:nvSpPr>
        <p:spPr>
          <a:xfrm>
            <a:off x="822960" y="2103120"/>
            <a:ext cx="10972800" cy="548640"/>
          </a:xfrm>
          <a:prstGeom prst="rect">
            <a:avLst/>
          </a:prstGeom>
          <a:noFill/>
        </p:spPr>
        <p:txBody>
          <a:bodyPr wrap="square" anchor="t">
            <a:spAutoFit/>
          </a:bodyPr>
          <a:lstStyle/>
          <a:p>
            <a:pPr algn="l">
              <a:spcAft>
                <a:spcPts val="400"/>
              </a:spcAft>
            </a:pPr>
            <a:r>
              <a:rPr sz="1600" b="1">
                <a:solidFill>
                  <a:srgbClr val="1F6FEB"/>
                </a:solidFill>
                <a:latin typeface="Arial"/>
              </a:rPr>
              <a:t>COURSE SLIDES</a:t>
            </a:r>
          </a:p>
        </p:txBody>
      </p:sp>
      <p:sp>
        <p:nvSpPr>
          <p:cNvPr id="7" name="TextBox 6"/>
          <p:cNvSpPr txBox="1"/>
          <p:nvPr/>
        </p:nvSpPr>
        <p:spPr>
          <a:xfrm>
            <a:off x="822960" y="2606040"/>
            <a:ext cx="10972800" cy="1737360"/>
          </a:xfrm>
          <a:prstGeom prst="rect">
            <a:avLst/>
          </a:prstGeom>
          <a:noFill/>
        </p:spPr>
        <p:txBody>
          <a:bodyPr wrap="square" anchor="t">
            <a:spAutoFit/>
          </a:bodyPr>
          <a:lstStyle/>
          <a:p>
            <a:pPr algn="l">
              <a:spcAft>
                <a:spcPts val="400"/>
              </a:spcAft>
            </a:pPr>
            <a:r>
              <a:rPr sz="4000" b="1">
                <a:solidFill>
                  <a:srgbClr val="161B26"/>
                </a:solidFill>
                <a:latin typeface="Arial"/>
              </a:rPr>
              <a:t>Building Multi Agent Aplications with Gemini ADK (C829)</a:t>
            </a:r>
          </a:p>
        </p:txBody>
      </p:sp>
      <p:sp>
        <p:nvSpPr>
          <p:cNvPr id="8" name="Rectangle 7"/>
          <p:cNvSpPr/>
          <p:nvPr/>
        </p:nvSpPr>
        <p:spPr>
          <a:xfrm>
            <a:off x="841248" y="434340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461772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Course Code: C829</a:t>
            </a:r>
          </a:p>
          <a:p>
            <a:pPr algn="l">
              <a:spcAft>
                <a:spcPts val="600"/>
              </a:spcAft>
            </a:pPr>
            <a:r>
              <a:rPr sz="1400" b="0">
                <a:solidFill>
                  <a:srgbClr val="5B6372"/>
                </a:solidFill>
                <a:latin typeface="Arial"/>
              </a:rPr>
              <a:t>Conducted by Tertiary Infotech Academy Pte Ltd  ·  UEN 201200696W</a:t>
            </a:r>
          </a:p>
        </p:txBody>
      </p:sp>
      <p:sp>
        <p:nvSpPr>
          <p:cNvPr id="10" name="TextBox 9"/>
          <p:cNvSpPr txBox="1"/>
          <p:nvPr/>
        </p:nvSpPr>
        <p:spPr>
          <a:xfrm>
            <a:off x="822960" y="5943600"/>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v1.0  ·  11 August 2026</a:t>
            </a:r>
          </a:p>
        </p:txBody>
      </p:sp>
      <p:sp>
        <p:nvSpPr>
          <p:cNvPr id="11" name="TextBox 10"/>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Multi Agent Aplications with Gemini ADK (C829)  ·  C829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Your Trainer</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General Trainer template —
to be completed by the trainer</a:t>
            </a:r>
          </a:p>
        </p:txBody>
      </p:sp>
      <p:sp>
        <p:nvSpPr>
          <p:cNvPr id="13" name="Rectangle 12"/>
          <p:cNvSpPr/>
          <p:nvPr/>
        </p:nvSpPr>
        <p:spPr>
          <a:xfrm>
            <a:off x="4480560" y="17830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NAME</a:t>
            </a:r>
          </a:p>
          <a:p>
            <a:pPr algn="l">
              <a:spcAft>
                <a:spcPts val="300"/>
              </a:spcAft>
            </a:pPr>
            <a:r>
              <a:rPr sz="1300" b="0">
                <a:solidFill>
                  <a:srgbClr val="E2E8F0"/>
                </a:solidFill>
                <a:latin typeface="Arial"/>
              </a:rPr>
              <a:t>____________________________________________</a:t>
            </a:r>
          </a:p>
        </p:txBody>
      </p:sp>
      <p:sp>
        <p:nvSpPr>
          <p:cNvPr id="16" name="Rectangle 15"/>
          <p:cNvSpPr/>
          <p:nvPr/>
        </p:nvSpPr>
        <p:spPr>
          <a:xfrm>
            <a:off x="4480560" y="252984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52984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52984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TITLE / DESIGNATION</a:t>
            </a:r>
          </a:p>
          <a:p>
            <a:pPr algn="l">
              <a:spcAft>
                <a:spcPts val="300"/>
              </a:spcAft>
            </a:pPr>
            <a:r>
              <a:rPr sz="1300" b="0">
                <a:solidFill>
                  <a:srgbClr val="E2E8F0"/>
                </a:solidFill>
                <a:latin typeface="Arial"/>
              </a:rPr>
              <a:t>____________________________________________</a:t>
            </a:r>
          </a:p>
        </p:txBody>
      </p:sp>
      <p:sp>
        <p:nvSpPr>
          <p:cNvPr id="19" name="Rectangle 18"/>
          <p:cNvSpPr/>
          <p:nvPr/>
        </p:nvSpPr>
        <p:spPr>
          <a:xfrm>
            <a:off x="4480560" y="327660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276600"/>
            <a:ext cx="91440" cy="563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276600"/>
            <a:ext cx="6400800" cy="563880"/>
          </a:xfrm>
          <a:prstGeom prst="rect">
            <a:avLst/>
          </a:prstGeom>
          <a:noFill/>
        </p:spPr>
        <p:txBody>
          <a:bodyPr wrap="square" anchor="ctr">
            <a:spAutoFit/>
          </a:bodyPr>
          <a:lstStyle/>
          <a:p>
            <a:pPr algn="l">
              <a:spcAft>
                <a:spcPts val="300"/>
              </a:spcAft>
            </a:pPr>
            <a:r>
              <a:rPr sz="1100" b="1">
                <a:solidFill>
                  <a:srgbClr val="7C3AED"/>
                </a:solidFill>
                <a:latin typeface="Arial"/>
              </a:rPr>
              <a:t>QUALIFICATIONS</a:t>
            </a:r>
          </a:p>
          <a:p>
            <a:pPr algn="l">
              <a:spcAft>
                <a:spcPts val="300"/>
              </a:spcAft>
            </a:pPr>
            <a:r>
              <a:rPr sz="1300" b="0">
                <a:solidFill>
                  <a:srgbClr val="E2E8F0"/>
                </a:solidFill>
                <a:latin typeface="Arial"/>
              </a:rPr>
              <a:t>____________________________________________</a:t>
            </a:r>
          </a:p>
        </p:txBody>
      </p:sp>
      <p:sp>
        <p:nvSpPr>
          <p:cNvPr id="22" name="Rectangle 21"/>
          <p:cNvSpPr/>
          <p:nvPr/>
        </p:nvSpPr>
        <p:spPr>
          <a:xfrm>
            <a:off x="4480560" y="402336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023360"/>
            <a:ext cx="91440" cy="563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023360"/>
            <a:ext cx="6400800" cy="563880"/>
          </a:xfrm>
          <a:prstGeom prst="rect">
            <a:avLst/>
          </a:prstGeom>
          <a:noFill/>
        </p:spPr>
        <p:txBody>
          <a:bodyPr wrap="square" anchor="ctr">
            <a:spAutoFit/>
          </a:bodyPr>
          <a:lstStyle/>
          <a:p>
            <a:pPr algn="l">
              <a:spcAft>
                <a:spcPts val="300"/>
              </a:spcAft>
            </a:pPr>
            <a:r>
              <a:rPr sz="1100" b="1">
                <a:solidFill>
                  <a:srgbClr val="F59E0B"/>
                </a:solidFill>
                <a:latin typeface="Arial"/>
              </a:rPr>
              <a:t>AREAS OF EXPERTISE</a:t>
            </a:r>
          </a:p>
          <a:p>
            <a:pPr algn="l">
              <a:spcAft>
                <a:spcPts val="300"/>
              </a:spcAft>
            </a:pPr>
            <a:r>
              <a:rPr sz="1300" b="0">
                <a:solidFill>
                  <a:srgbClr val="E2E8F0"/>
                </a:solidFill>
                <a:latin typeface="Arial"/>
              </a:rPr>
              <a:t>____________________________________________</a:t>
            </a:r>
          </a:p>
        </p:txBody>
      </p:sp>
      <p:sp>
        <p:nvSpPr>
          <p:cNvPr id="25" name="Rectangle 24"/>
          <p:cNvSpPr/>
          <p:nvPr/>
        </p:nvSpPr>
        <p:spPr>
          <a:xfrm>
            <a:off x="4480560" y="477012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477012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477012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TRAINING &amp; INDUSTRY EXPERIENCE</a:t>
            </a:r>
          </a:p>
          <a:p>
            <a:pPr algn="l">
              <a:spcAft>
                <a:spcPts val="300"/>
              </a:spcAft>
            </a:pPr>
            <a:r>
              <a:rPr sz="1300" b="0">
                <a:solidFill>
                  <a:srgbClr val="E2E8F0"/>
                </a:solidFill>
                <a:latin typeface="Arial"/>
              </a:rPr>
              <a:t>____________________________________________</a:t>
            </a:r>
          </a:p>
        </p:txBody>
      </p:sp>
      <p:sp>
        <p:nvSpPr>
          <p:cNvPr id="28" name="Rectangle 27"/>
          <p:cNvSpPr/>
          <p:nvPr/>
        </p:nvSpPr>
        <p:spPr>
          <a:xfrm>
            <a:off x="4480560" y="55168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80560" y="551688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73168" y="551688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CONTACT</a:t>
            </a:r>
          </a:p>
          <a:p>
            <a:pPr algn="l">
              <a:spcAft>
                <a:spcPts val="300"/>
              </a:spcAft>
            </a:pPr>
            <a:r>
              <a:rPr sz="1300" b="0">
                <a:solidFill>
                  <a:srgbClr val="E2E8F0"/>
                </a:solidFill>
                <a:latin typeface="Arial"/>
              </a:rPr>
              <a:t>____________________________________________</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Multi Agent Aplications with Gemini ADK (C829)  ·  C829</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AA</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Tertiary Infotech Trainer</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Principal Trainer
Tertiary Infotech Academy Pte. Ltd.</a:t>
            </a:r>
          </a:p>
        </p:txBody>
      </p:sp>
      <p:sp>
        <p:nvSpPr>
          <p:cNvPr id="13" name="Rectangle 12"/>
          <p:cNvSpPr/>
          <p:nvPr/>
        </p:nvSpPr>
        <p:spPr>
          <a:xfrm>
            <a:off x="4480560" y="178308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937260"/>
          </a:xfrm>
          <a:prstGeom prst="rect">
            <a:avLst/>
          </a:prstGeom>
          <a:noFill/>
        </p:spPr>
        <p:txBody>
          <a:bodyPr wrap="square" anchor="ctr">
            <a:spAutoFit/>
          </a:bodyPr>
          <a:lstStyle/>
          <a:p>
            <a:pPr algn="l">
              <a:spcAft>
                <a:spcPts val="300"/>
              </a:spcAft>
            </a:pPr>
            <a:r>
              <a:rPr sz="1100" b="1">
                <a:solidFill>
                  <a:srgbClr val="1F6FEB"/>
                </a:solidFill>
                <a:latin typeface="Arial"/>
              </a:rPr>
              <a:t>ROLE</a:t>
            </a:r>
          </a:p>
          <a:p>
            <a:pPr algn="l">
              <a:spcAft>
                <a:spcPts val="300"/>
              </a:spcAft>
            </a:pPr>
            <a:r>
              <a:rPr sz="1400" b="0">
                <a:solidFill>
                  <a:srgbClr val="161B26"/>
                </a:solidFill>
                <a:latin typeface="Arial"/>
              </a:rPr>
              <a:t>Principal Trainer, Tertiary Infotech Academy Pte. Ltd.</a:t>
            </a:r>
          </a:p>
        </p:txBody>
      </p:sp>
      <p:sp>
        <p:nvSpPr>
          <p:cNvPr id="16" name="Rectangle 15"/>
          <p:cNvSpPr/>
          <p:nvPr/>
        </p:nvSpPr>
        <p:spPr>
          <a:xfrm>
            <a:off x="4480560" y="290322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903220"/>
            <a:ext cx="91440"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903220"/>
            <a:ext cx="6400800" cy="937260"/>
          </a:xfrm>
          <a:prstGeom prst="rect">
            <a:avLst/>
          </a:prstGeom>
          <a:noFill/>
        </p:spPr>
        <p:txBody>
          <a:bodyPr wrap="square" anchor="ctr">
            <a:spAutoFit/>
          </a:bodyPr>
          <a:lstStyle/>
          <a:p>
            <a:pPr algn="l">
              <a:spcAft>
                <a:spcPts val="300"/>
              </a:spcAft>
            </a:pPr>
            <a:r>
              <a:rPr sz="1100" b="1">
                <a:solidFill>
                  <a:srgbClr val="10B981"/>
                </a:solidFill>
                <a:latin typeface="Arial"/>
              </a:rPr>
              <a:t>CERTIFICATION</a:t>
            </a:r>
          </a:p>
          <a:p>
            <a:pPr algn="l">
              <a:spcAft>
                <a:spcPts val="300"/>
              </a:spcAft>
            </a:pPr>
            <a:r>
              <a:rPr sz="1400" b="0">
                <a:solidFill>
                  <a:srgbClr val="161B26"/>
                </a:solidFill>
                <a:latin typeface="Arial"/>
              </a:rPr>
              <a:t>Industry certified in the subject area of this course.</a:t>
            </a:r>
          </a:p>
        </p:txBody>
      </p:sp>
      <p:sp>
        <p:nvSpPr>
          <p:cNvPr id="19" name="Rectangle 18"/>
          <p:cNvSpPr/>
          <p:nvPr/>
        </p:nvSpPr>
        <p:spPr>
          <a:xfrm>
            <a:off x="4480560" y="402336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4023360"/>
            <a:ext cx="91440"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4023360"/>
            <a:ext cx="6400800" cy="937260"/>
          </a:xfrm>
          <a:prstGeom prst="rect">
            <a:avLst/>
          </a:prstGeom>
          <a:noFill/>
        </p:spPr>
        <p:txBody>
          <a:bodyPr wrap="square" anchor="ctr">
            <a:spAutoFit/>
          </a:bodyPr>
          <a:lstStyle/>
          <a:p>
            <a:pPr algn="l">
              <a:spcAft>
                <a:spcPts val="300"/>
              </a:spcAft>
            </a:pPr>
            <a:r>
              <a:rPr sz="1100" b="1">
                <a:solidFill>
                  <a:srgbClr val="7C3AED"/>
                </a:solidFill>
                <a:latin typeface="Arial"/>
              </a:rPr>
              <a:t>DELIVERS</a:t>
            </a:r>
          </a:p>
          <a:p>
            <a:pPr algn="l">
              <a:spcAft>
                <a:spcPts val="300"/>
              </a:spcAft>
            </a:pPr>
            <a:r>
              <a:rPr sz="1400" b="0">
                <a:solidFill>
                  <a:srgbClr val="161B26"/>
                </a:solidFill>
                <a:latin typeface="Arial"/>
              </a:rPr>
              <a:t>Professional short courses for Tertiary Infotech Academy.</a:t>
            </a:r>
          </a:p>
        </p:txBody>
      </p:sp>
      <p:sp>
        <p:nvSpPr>
          <p:cNvPr id="22" name="Rectangle 21"/>
          <p:cNvSpPr/>
          <p:nvPr/>
        </p:nvSpPr>
        <p:spPr>
          <a:xfrm>
            <a:off x="4480560" y="514350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5143500"/>
            <a:ext cx="91440"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5143500"/>
            <a:ext cx="6400800" cy="937260"/>
          </a:xfrm>
          <a:prstGeom prst="rect">
            <a:avLst/>
          </a:prstGeom>
          <a:noFill/>
        </p:spPr>
        <p:txBody>
          <a:bodyPr wrap="square" anchor="ctr">
            <a:spAutoFit/>
          </a:bodyPr>
          <a:lstStyle/>
          <a:p>
            <a:pPr algn="l">
              <a:spcAft>
                <a:spcPts val="300"/>
              </a:spcAft>
            </a:pPr>
            <a:r>
              <a:rPr sz="1100" b="1">
                <a:solidFill>
                  <a:srgbClr val="F59E0B"/>
                </a:solidFill>
                <a:latin typeface="Arial"/>
              </a:rPr>
              <a:t>FOUNDER</a:t>
            </a:r>
          </a:p>
          <a:p>
            <a:pPr algn="l">
              <a:spcAft>
                <a:spcPts val="300"/>
              </a:spcAft>
            </a:pPr>
            <a:r>
              <a:rPr sz="1400" b="0">
                <a:solidFill>
                  <a:srgbClr val="161B26"/>
                </a:solidFill>
                <a:latin typeface="Arial"/>
              </a:rPr>
              <a:t>Founder and lead instructor at Tertiary Infotech / Tertiary Courses.</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Multi Agent Aplications with Gemini ADK (C829)  ·  C829</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Your name and organisation / role.</a:t>
            </a:r>
          </a:p>
        </p:txBody>
      </p:sp>
      <p:sp>
        <p:nvSpPr>
          <p:cNvPr id="12" name="Rectangle 11"/>
          <p:cNvSpPr/>
          <p:nvPr/>
        </p:nvSpPr>
        <p:spPr>
          <a:xfrm>
            <a:off x="777240" y="3316224"/>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3389376"/>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Your experience with this subject (if any).</a:t>
            </a:r>
          </a:p>
        </p:txBody>
      </p:sp>
      <p:sp>
        <p:nvSpPr>
          <p:cNvPr id="17" name="Rectangle 16"/>
          <p:cNvSpPr/>
          <p:nvPr/>
        </p:nvSpPr>
        <p:spPr>
          <a:xfrm>
            <a:off x="777240" y="4803648"/>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876800"/>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What you want to be able to do after this course.</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Multi Agent Aplications with Gemini ADK (C829)  ·  C829</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 no question is too small.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Mutual respect: agree to disagree.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Learn by doing — try every hands-on lab.</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Multi Agent Aplications with Gemini ADK (C829)  ·  C829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COURSE PORTAL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Download Course Material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Sign in at the LMS-TMS portal</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Open this course from your dashboard</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Go to the Courseware tab</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Download the Slides (PPT/PDF), Learner Guide and Lesson Plan</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Keep them open alongside the labs as you work</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Multi Agent Aplications with Gemini ADK (C829)  ·  C829</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
        <p:nvSpPr>
          <p:cNvPr id="39" name="TextBox 38"/>
          <p:cNvSpPr txBox="1"/>
          <p:nvPr/>
        </p:nvSpPr>
        <p:spPr>
          <a:xfrm>
            <a:off x="777240" y="5943600"/>
            <a:ext cx="10607040" cy="365760"/>
          </a:xfrm>
          <a:prstGeom prst="rect">
            <a:avLst/>
          </a:prstGeom>
          <a:noFill/>
        </p:spPr>
        <p:txBody>
          <a:bodyPr wrap="square" anchor="t">
            <a:spAutoFit/>
          </a:bodyPr>
          <a:lstStyle/>
          <a:p>
            <a:pPr algn="ctr">
              <a:spcAft>
                <a:spcPts val="400"/>
              </a:spcAft>
            </a:pPr>
            <a:r>
              <a:rPr sz="1600" b="1">
                <a:solidFill>
                  <a:srgbClr val="1F6FEB"/>
                </a:solidFill>
                <a:latin typeface="Arial"/>
              </a:rPr>
              <a:t>Portal:  https://lms-tms.tertiaryinfotech.com</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SCHEDULE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Lesson Plan — 2 Days, 7.5 scheduled hours/day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Day 1</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Day 2</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Day 1 — Single Agents, Tools, State and Memory</a:t>
            </a:r>
          </a:p>
          <a:p>
            <a:pPr>
              <a:spcAft>
                <a:spcPts val="1000"/>
              </a:spcAft>
            </a:pPr>
            <a:r>
              <a:rPr sz="1400" b="0">
                <a:solidFill>
                  <a:srgbClr val="5B6372"/>
                </a:solidFill>
                <a:latin typeface="Arial"/>
              </a:rPr>
              <a:t>–  Topic 1: Single Agent Foundations (Labs 1–2)</a:t>
            </a:r>
          </a:p>
          <a:p>
            <a:pPr>
              <a:spcAft>
                <a:spcPts val="1000"/>
              </a:spcAft>
            </a:pPr>
            <a:r>
              <a:rPr sz="1400" b="0">
                <a:solidFill>
                  <a:srgbClr val="5B6372"/>
                </a:solidFill>
                <a:latin typeface="Arial"/>
              </a:rPr>
              <a:t>–  Topic 2: Tools, Memory and Sessions (Labs 3–4)</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Day 2 — Multi-Agent Orchestration, MCP and Production Readiness</a:t>
            </a:r>
          </a:p>
          <a:p>
            <a:pPr>
              <a:spcAft>
                <a:spcPts val="1000"/>
              </a:spcAft>
            </a:pPr>
            <a:r>
              <a:rPr sz="1400" b="0">
                <a:solidFill>
                  <a:srgbClr val="5B6372"/>
                </a:solidFill>
                <a:latin typeface="Arial"/>
              </a:rPr>
              <a:t>–  Topic 3: Multi-Agent Architecture (Labs 5–6)</a:t>
            </a:r>
          </a:p>
          <a:p>
            <a:pPr>
              <a:spcAft>
                <a:spcPts val="1000"/>
              </a:spcAft>
            </a:pPr>
            <a:r>
              <a:rPr sz="1400" b="0">
                <a:solidFill>
                  <a:srgbClr val="5B6372"/>
                </a:solidFill>
                <a:latin typeface="Arial"/>
              </a:rPr>
              <a:t>–  Topic 4: MCP and Production Design (Labs 7–8)</a:t>
            </a:r>
          </a:p>
          <a:p>
            <a:pPr>
              <a:spcAft>
                <a:spcPts val="1000"/>
              </a:spcAft>
            </a:pPr>
            <a:r>
              <a:rPr sz="1600" b="0">
                <a:solidFill>
                  <a:srgbClr val="161B26"/>
                </a:solidFill>
                <a:latin typeface="Arial"/>
              </a:rPr>
              <a:t>•  Daily timing</a:t>
            </a:r>
          </a:p>
          <a:p>
            <a:pPr>
              <a:spcAft>
                <a:spcPts val="1000"/>
              </a:spcAft>
            </a:pPr>
            <a:r>
              <a:rPr sz="1400" b="0">
                <a:solidFill>
                  <a:srgbClr val="5B6372"/>
                </a:solidFill>
                <a:latin typeface="Arial"/>
              </a:rPr>
              <a:t>–  9:30 am – 6:00 pm (1-hour lunch; tea breaks within scheduled time)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Multi Agent Aplications with Gemini ADK (C829)  ·  C829</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Learning Outcomes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Agent Foundations</a:t>
            </a:r>
          </a:p>
          <a:p>
            <a:pPr algn="l">
              <a:spcAft>
                <a:spcPts val="300"/>
              </a:spcAft>
            </a:pPr>
            <a:r>
              <a:rPr sz="1300" b="0">
                <a:solidFill>
                  <a:srgbClr val="5B6372"/>
                </a:solidFill>
                <a:latin typeface="Arial"/>
              </a:rPr>
              <a:t>Explain the ADK agent lifecycle and configure a Gemini agent with clear instructions, typed input or output, and session-aware behaviour.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Reliable Tools</a:t>
            </a:r>
          </a:p>
          <a:p>
            <a:pPr algn="l">
              <a:spcAft>
                <a:spcPts val="300"/>
              </a:spcAft>
            </a:pPr>
            <a:r>
              <a:rPr sz="1300" b="0">
                <a:solidFill>
                  <a:srgbClr val="5B6372"/>
                </a:solidFill>
                <a:latin typeface="Arial"/>
              </a:rPr>
              <a:t>Build reliable function tools and API integrations with explicit schemas, validation, error handling, and safe secret management.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State &amp; Memory</a:t>
            </a:r>
          </a:p>
          <a:p>
            <a:pPr algn="l">
              <a:spcAft>
                <a:spcPts val="300"/>
              </a:spcAft>
            </a:pPr>
            <a:r>
              <a:rPr sz="1300" b="0">
                <a:solidFill>
                  <a:srgbClr val="5B6372"/>
                </a:solidFill>
                <a:latin typeface="Arial"/>
              </a:rPr>
              <a:t>Use session state and searchable memory to preserve relevant context without confusing conversation history, working state, and long-term knowledge.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Agent Teams</a:t>
            </a:r>
          </a:p>
          <a:p>
            <a:pPr algn="l">
              <a:spcAft>
                <a:spcPts val="300"/>
              </a:spcAft>
            </a:pPr>
            <a:r>
              <a:rPr sz="1300" b="0">
                <a:solidFill>
                  <a:srgbClr val="5B6372"/>
                </a:solidFill>
                <a:latin typeface="Arial"/>
              </a:rPr>
              <a:t>Design multi-agent systems with specialist roles, coordinator delegation, shared context, and deterministic graph workflows where control matters.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MCP &amp; Routing</a:t>
            </a:r>
          </a:p>
          <a:p>
            <a:pPr algn="l">
              <a:spcAft>
                <a:spcPts val="300"/>
              </a:spcAft>
            </a:pPr>
            <a:r>
              <a:rPr sz="1300" b="0">
                <a:solidFill>
                  <a:srgbClr val="5B6372"/>
                </a:solidFill>
                <a:latin typeface="Arial"/>
              </a:rPr>
              <a:t>Connect ADK agents to MCP capabilities and choose an appropriate routing strategy for tools, specialists, and workflow branches.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Production Readiness</a:t>
            </a:r>
          </a:p>
          <a:p>
            <a:pPr algn="l">
              <a:spcAft>
                <a:spcPts val="300"/>
              </a:spcAft>
            </a:pPr>
            <a:r>
              <a:rPr sz="1300" b="0">
                <a:solidFill>
                  <a:srgbClr val="5B6372"/>
                </a:solidFill>
                <a:latin typeface="Arial"/>
              </a:rPr>
              <a:t>Apply evaluation, observability, security guardrails, and deployment practices to prepare a multi-agent application for production use.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Multi Agent Aplications with Gemini ADK (C829)  ·  C829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LEARNING APPROACH</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How You'll Learn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Trainer demonstrates the concept</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You build it yourself in the hands-on lab</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Verify with the lab's 'Test it' step</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Discuss and troubleshoot together</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Recap against the learning outcomes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Multi Agent Aplications with Gemini ADK (C829)  ·  C829</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CORE CONCEPTS</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Fundamentals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Multi Agent Aplications with Gemini ADK (C829)  ·  C829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OVERVIEW</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ADK System Model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Agent</a:t>
            </a:r>
          </a:p>
          <a:p>
            <a:pPr algn="l">
              <a:spcAft>
                <a:spcPts val="300"/>
              </a:spcAft>
            </a:pPr>
            <a:r>
              <a:rPr sz="1300" b="0">
                <a:solidFill>
                  <a:srgbClr val="5B6372"/>
                </a:solidFill>
                <a:latin typeface="Arial"/>
              </a:rPr>
              <a:t>A model-driven component with a role, instructions, tools, schemas, and optional sub-agents.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Runner</a:t>
            </a:r>
          </a:p>
          <a:p>
            <a:pPr algn="l">
              <a:spcAft>
                <a:spcPts val="300"/>
              </a:spcAft>
            </a:pPr>
            <a:r>
              <a:rPr sz="1300" b="0">
                <a:solidFill>
                  <a:srgbClr val="5B6372"/>
                </a:solidFill>
                <a:latin typeface="Arial"/>
              </a:rPr>
              <a:t>The application engine that executes the agent and coordinates services across each invocation.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Tool</a:t>
            </a:r>
          </a:p>
          <a:p>
            <a:pPr algn="l">
              <a:spcAft>
                <a:spcPts val="300"/>
              </a:spcAft>
            </a:pPr>
            <a:r>
              <a:rPr sz="1300" b="0">
                <a:solidFill>
                  <a:srgbClr val="5B6372"/>
                </a:solidFill>
                <a:latin typeface="Arial"/>
              </a:rPr>
              <a:t>A typed capability that lets an agent read data, calculate, call a service, or perform an approved action.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Event</a:t>
            </a:r>
          </a:p>
          <a:p>
            <a:pPr algn="l">
              <a:spcAft>
                <a:spcPts val="300"/>
              </a:spcAft>
            </a:pPr>
            <a:r>
              <a:rPr sz="1300" b="0">
                <a:solidFill>
                  <a:srgbClr val="5B6372"/>
                </a:solidFill>
                <a:latin typeface="Arial"/>
              </a:rPr>
              <a:t>An ordered record of messages, calls, results, state changes, and workflow outputs.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Session</a:t>
            </a:r>
          </a:p>
          <a:p>
            <a:pPr algn="l">
              <a:spcAft>
                <a:spcPts val="300"/>
              </a:spcAft>
            </a:pPr>
            <a:r>
              <a:rPr sz="1300" b="0">
                <a:solidFill>
                  <a:srgbClr val="5B6372"/>
                </a:solidFill>
                <a:latin typeface="Arial"/>
              </a:rPr>
              <a:t>One conversation thread, including its events and temporary state.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Memory</a:t>
            </a:r>
          </a:p>
          <a:p>
            <a:pPr algn="l">
              <a:spcAft>
                <a:spcPts val="300"/>
              </a:spcAft>
            </a:pPr>
            <a:r>
              <a:rPr sz="1300" b="0">
                <a:solidFill>
                  <a:srgbClr val="5B6372"/>
                </a:solidFill>
                <a:latin typeface="Arial"/>
              </a:rPr>
              <a:t>Searchable knowledge beyond the active thread, often backed by a managed or vector service.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Multi Agent Aplications with Gemini ADK (C829)  ·  C829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OVERVIEW</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ADK System Model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Workflow</a:t>
            </a:r>
          </a:p>
          <a:p>
            <a:pPr algn="l">
              <a:spcAft>
                <a:spcPts val="300"/>
              </a:spcAft>
            </a:pPr>
            <a:r>
              <a:rPr sz="1300" b="0">
                <a:solidFill>
                  <a:srgbClr val="5B6372"/>
                </a:solidFill>
                <a:latin typeface="Arial"/>
              </a:rPr>
              <a:t>An explicit graph or programmatic control flow that combines deterministic logic and agent reasoning.</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MCP</a:t>
            </a:r>
          </a:p>
          <a:p>
            <a:pPr algn="l">
              <a:spcAft>
                <a:spcPts val="300"/>
              </a:spcAft>
            </a:pPr>
            <a:r>
              <a:rPr sz="1300" b="0">
                <a:solidFill>
                  <a:srgbClr val="5B6372"/>
                </a:solidFill>
                <a:latin typeface="Arial"/>
              </a:rPr>
              <a:t>A standard client-server protocol for discovering and calling external tools and context capabilities.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9</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Guardrail</a:t>
            </a:r>
          </a:p>
          <a:p>
            <a:pPr algn="l">
              <a:spcAft>
                <a:spcPts val="300"/>
              </a:spcAft>
            </a:pPr>
            <a:r>
              <a:rPr sz="1300" b="0">
                <a:solidFill>
                  <a:srgbClr val="5B6372"/>
                </a:solidFill>
                <a:latin typeface="Arial"/>
              </a:rPr>
              <a:t>A policy check that observes, blocks, changes, or requires approval around an agent action.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10</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Trace</a:t>
            </a:r>
          </a:p>
          <a:p>
            <a:pPr algn="l">
              <a:spcAft>
                <a:spcPts val="300"/>
              </a:spcAft>
            </a:pPr>
            <a:r>
              <a:rPr sz="1300" b="0">
                <a:solidFill>
                  <a:srgbClr val="5B6372"/>
                </a:solidFill>
                <a:latin typeface="Arial"/>
              </a:rPr>
              <a:t>Correlated telemetry that explains the route, model calls, tools, latency, errors, and result.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Multi Agent Aplications with Gemini ADK (C829)  ·  C829</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THE BUILDING BLOCKS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DESIGN Production Lens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 — Define</a:t>
            </a:r>
          </a:p>
          <a:p>
            <a:pPr algn="l">
              <a:spcAft>
                <a:spcPts val="300"/>
              </a:spcAft>
            </a:pPr>
            <a:r>
              <a:rPr sz="1200" b="0">
                <a:solidFill>
                  <a:srgbClr val="5B6372"/>
                </a:solidFill>
                <a:latin typeface="Arial"/>
              </a:rPr>
              <a:t>Name the user outcome, non-goals, boundaries, and acceptable failure behaviour.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 — Encapsulate</a:t>
            </a:r>
          </a:p>
          <a:p>
            <a:pPr algn="l">
              <a:spcAft>
                <a:spcPts val="300"/>
              </a:spcAft>
            </a:pPr>
            <a:r>
              <a:rPr sz="1200" b="0">
                <a:solidFill>
                  <a:srgbClr val="5B6372"/>
                </a:solidFill>
                <a:latin typeface="Arial"/>
              </a:rPr>
              <a:t>Give each agent and tool one clear responsibility with a typed contract.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 — Share selectively</a:t>
            </a:r>
          </a:p>
          <a:p>
            <a:pPr algn="l">
              <a:spcAft>
                <a:spcPts val="300"/>
              </a:spcAft>
            </a:pPr>
            <a:r>
              <a:rPr sz="1200" b="0">
                <a:solidFill>
                  <a:srgbClr val="5B6372"/>
                </a:solidFill>
                <a:latin typeface="Arial"/>
              </a:rPr>
              <a:t>Pass only the state, memory, and evidence required for the current task.</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 — Inspect</a:t>
            </a:r>
          </a:p>
          <a:p>
            <a:pPr algn="l">
              <a:spcAft>
                <a:spcPts val="300"/>
              </a:spcAft>
            </a:pPr>
            <a:r>
              <a:rPr sz="1200" b="0">
                <a:solidFill>
                  <a:srgbClr val="5B6372"/>
                </a:solidFill>
                <a:latin typeface="Arial"/>
              </a:rPr>
              <a:t>Capture events, route decisions, tool calls, traces, cost, and outcome quality.</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 — Guard</a:t>
            </a:r>
          </a:p>
          <a:p>
            <a:pPr algn="l">
              <a:spcAft>
                <a:spcPts val="300"/>
              </a:spcAft>
            </a:pPr>
            <a:r>
              <a:rPr sz="1200" b="0">
                <a:solidFill>
                  <a:srgbClr val="5B6372"/>
                </a:solidFill>
                <a:latin typeface="Arial"/>
              </a:rPr>
              <a:t>Apply identity, least privilege, validation, approvals, and output controls in layers.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N — Normalise</a:t>
            </a:r>
          </a:p>
          <a:p>
            <a:pPr algn="l">
              <a:spcAft>
                <a:spcPts val="300"/>
              </a:spcAft>
            </a:pPr>
            <a:r>
              <a:rPr sz="1200" b="0">
                <a:solidFill>
                  <a:srgbClr val="5B6372"/>
                </a:solidFill>
                <a:latin typeface="Arial"/>
              </a:rPr>
              <a:t>Package, evaluate, version, and deploy the same reproducible application across environments.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Multi Agent Aplications with Gemini ADK (C829)  ·  C829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ARCHITECTURE PRINCIPLE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More agents create more interfaces—not automatically more intelligence.</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Split responsibilities only when the new boundary improves ownership, permissions, evaluation, or reliability. Every handoff must earn its cost.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Multi Agent Aplications with Gemini ADK (C829)  ·  C829</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COURSE ROADMAP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What You Will Build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Reliable Core</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typed Gemini triage agent</a:t>
            </a:r>
          </a:p>
          <a:p>
            <a:pPr>
              <a:spcAft>
                <a:spcPts val="900"/>
              </a:spcAft>
            </a:pPr>
            <a:r>
              <a:rPr sz="1400" b="0">
                <a:solidFill>
                  <a:srgbClr val="161B26"/>
                </a:solidFill>
                <a:latin typeface="Arial"/>
              </a:rPr>
              <a:t>•  Validated tools and recoverable errors</a:t>
            </a:r>
          </a:p>
          <a:p>
            <a:pPr>
              <a:spcAft>
                <a:spcPts val="900"/>
              </a:spcAft>
            </a:pPr>
            <a:r>
              <a:rPr sz="1400" b="0">
                <a:solidFill>
                  <a:srgbClr val="161B26"/>
                </a:solidFill>
                <a:latin typeface="Arial"/>
              </a:rPr>
              <a:t>•  Session state and searchable knowledge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Agent Team</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Three least-privilege specialists</a:t>
            </a:r>
          </a:p>
          <a:p>
            <a:pPr>
              <a:spcAft>
                <a:spcPts val="900"/>
              </a:spcAft>
            </a:pPr>
            <a:r>
              <a:rPr sz="1400" b="0">
                <a:solidFill>
                  <a:srgbClr val="161B26"/>
                </a:solidFill>
                <a:latin typeface="Arial"/>
              </a:rPr>
              <a:t>•  Coordinator delegation</a:t>
            </a:r>
          </a:p>
          <a:p>
            <a:pPr>
              <a:spcAft>
                <a:spcPts val="900"/>
              </a:spcAft>
            </a:pPr>
            <a:r>
              <a:rPr sz="1400" b="0">
                <a:solidFill>
                  <a:srgbClr val="161B26"/>
                </a:solidFill>
                <a:latin typeface="Arial"/>
              </a:rPr>
              <a:t>•  A deterministic resolution workflow</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Production Edge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MCP capability discovery</a:t>
            </a:r>
          </a:p>
          <a:p>
            <a:pPr>
              <a:spcAft>
                <a:spcPts val="900"/>
              </a:spcAft>
            </a:pPr>
            <a:r>
              <a:rPr sz="1400" b="0">
                <a:solidFill>
                  <a:srgbClr val="161B26"/>
                </a:solidFill>
                <a:latin typeface="Arial"/>
              </a:rPr>
              <a:t>•  Guardrails and observability</a:t>
            </a:r>
          </a:p>
          <a:p>
            <a:pPr>
              <a:spcAft>
                <a:spcPts val="900"/>
              </a:spcAft>
            </a:pPr>
            <a:r>
              <a:rPr sz="1400" b="0">
                <a:solidFill>
                  <a:srgbClr val="161B26"/>
                </a:solidFill>
                <a:latin typeface="Arial"/>
              </a:rPr>
              <a:t>•  Tests and container packaging</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Multi Agent Aplications with Gemini ADK (C829)  ·  C829</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THE LEARNING ARC</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How Every Lab Progresses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Understand the architectural idea and the trade-off it addresses.</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Inspect the starting checkpoint and predict the behaviour before running it.</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Build one bounded capability using synthetic data and placeholder secrets.</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Verify the result with a command, expected output, or visible event trace.</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Record the checkpoint so the next lab can extend the same SupportOps system.</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Multi Agent Aplications with Gemini ADK (C829)  ·  C829</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transition spd="med">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EA580C"/>
                </a:solidFill>
                <a:latin typeface="Arial"/>
              </a:rPr>
              <a:t>TOPIC 01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Single Agent Foundations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ADK architecture · Agent lifecycle · Gemini configuration · Structured I/O · Sessions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Multi Agent Aplications with Gemini ADK (C829)  ·  C829</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KEY CONCEPTS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Key Concepts — Single Agent Foundations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ADK application anatomy</a:t>
            </a:r>
          </a:p>
          <a:p>
            <a:pPr algn="l">
              <a:spcAft>
                <a:spcPts val="300"/>
              </a:spcAft>
            </a:pPr>
            <a:r>
              <a:rPr sz="1200" b="0">
                <a:solidFill>
                  <a:srgbClr val="5B6372"/>
                </a:solidFill>
                <a:latin typeface="Arial"/>
              </a:rPr>
              <a:t>An ADK app exposes a root_agent; a Runner coordinates model calls, tools, events, sessions, and the final response.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Lifecycle</a:t>
            </a:r>
          </a:p>
          <a:p>
            <a:pPr algn="l">
              <a:spcAft>
                <a:spcPts val="300"/>
              </a:spcAft>
            </a:pPr>
            <a:r>
              <a:rPr sz="1200" b="0">
                <a:solidFill>
                  <a:srgbClr val="5B6372"/>
                </a:solidFill>
                <a:latin typeface="Arial"/>
              </a:rPr>
              <a:t>A user message enters a session, the agent reasons with Gemini, optional tools execute, events record the work, and a response returns.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Root agent contract</a:t>
            </a:r>
          </a:p>
          <a:p>
            <a:pPr algn="l">
              <a:spcAft>
                <a:spcPts val="300"/>
              </a:spcAft>
            </a:pPr>
            <a:r>
              <a:rPr sz="1200" b="0">
                <a:solidFill>
                  <a:srgbClr val="5B6372"/>
                </a:solidFill>
                <a:latin typeface="Arial"/>
              </a:rPr>
              <a:t>The root_agent is the discoverable entry point used by adk web, adk run, the API server, and deployment targets.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Instruction versus description</a:t>
            </a:r>
          </a:p>
          <a:p>
            <a:pPr algn="l">
              <a:spcAft>
                <a:spcPts val="300"/>
              </a:spcAft>
            </a:pPr>
            <a:r>
              <a:rPr sz="1200" b="0">
                <a:solidFill>
                  <a:srgbClr val="5B6372"/>
                </a:solidFill>
                <a:latin typeface="Arial"/>
              </a:rPr>
              <a:t>Instruction governs behaviour; description advertises capability so a coordinator can choose the right specialist.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Model selection</a:t>
            </a:r>
          </a:p>
          <a:p>
            <a:pPr algn="l">
              <a:spcAft>
                <a:spcPts val="300"/>
              </a:spcAft>
            </a:pPr>
            <a:r>
              <a:rPr sz="1200" b="0">
                <a:solidFill>
                  <a:srgbClr val="5B6372"/>
                </a:solidFill>
                <a:latin typeface="Arial"/>
              </a:rPr>
              <a:t>Pin a stable model for reproducibility. Use a latest alias for exploration only when automatic upgrades are acceptable.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Structured I/O</a:t>
            </a:r>
          </a:p>
          <a:p>
            <a:pPr algn="l">
              <a:spcAft>
                <a:spcPts val="300"/>
              </a:spcAft>
            </a:pPr>
            <a:r>
              <a:rPr sz="1200" b="0">
                <a:solidFill>
                  <a:srgbClr val="5B6372"/>
                </a:solidFill>
                <a:latin typeface="Arial"/>
              </a:rPr>
              <a:t>Pydantic schemas turn free-form model output into validated fields that code, tools, and later workflow nodes can consume.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Multi Agent Aplications with Gemini ADK (C829)  ·  C829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KEY CONCEPTS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Key Concepts — Single Agent Foundations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Control nondeterminism</a:t>
            </a:r>
          </a:p>
          <a:p>
            <a:pPr algn="l">
              <a:spcAft>
                <a:spcPts val="300"/>
              </a:spcAft>
            </a:pPr>
            <a:r>
              <a:rPr sz="1200" b="0">
                <a:solidFill>
                  <a:srgbClr val="5B6372"/>
                </a:solidFill>
                <a:latin typeface="Arial"/>
              </a:rPr>
              <a:t>Narrow scope, explicit policies, schemas, examples, and tests reduce variation without pretending an LLM is deterministic.</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Events</a:t>
            </a:r>
          </a:p>
          <a:p>
            <a:pPr algn="l">
              <a:spcAft>
                <a:spcPts val="300"/>
              </a:spcAft>
            </a:pPr>
            <a:r>
              <a:rPr sz="1200" b="0">
                <a:solidFill>
                  <a:srgbClr val="5B6372"/>
                </a:solidFill>
                <a:latin typeface="Arial"/>
              </a:rPr>
              <a:t>Events are the audit trail of messages, model responses, tool calls, tool results, state changes, and workflow progress.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9</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Session</a:t>
            </a:r>
          </a:p>
          <a:p>
            <a:pPr algn="l">
              <a:spcAft>
                <a:spcPts val="300"/>
              </a:spcAft>
            </a:pPr>
            <a:r>
              <a:rPr sz="1200" b="0">
                <a:solidFill>
                  <a:srgbClr val="5B6372"/>
                </a:solidFill>
                <a:latin typeface="Arial"/>
              </a:rPr>
              <a:t>A session is one conversation thread identified by app, user, and session IDs; it owns ordered events and temporary state.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10</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Stateless or stateful</a:t>
            </a:r>
          </a:p>
          <a:p>
            <a:pPr algn="l">
              <a:spcAft>
                <a:spcPts val="300"/>
              </a:spcAft>
            </a:pPr>
            <a:r>
              <a:rPr sz="1200" b="0">
                <a:solidFill>
                  <a:srgbClr val="5B6372"/>
                </a:solidFill>
                <a:latin typeface="Arial"/>
              </a:rPr>
              <a:t>Stateless calls are easier to scale; stateful interactions are needed when later turns depend on earlier choices or progress.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11</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Worked example</a:t>
            </a:r>
          </a:p>
          <a:p>
            <a:pPr algn="l">
              <a:spcAft>
                <a:spcPts val="300"/>
              </a:spcAft>
            </a:pPr>
            <a:r>
              <a:rPr sz="1200" b="0">
                <a:solidFill>
                  <a:srgbClr val="5B6372"/>
                </a:solidFill>
                <a:latin typeface="Arial"/>
              </a:rPr>
              <a:t>SupportOps converts a vague ticket into category, urgency, summary, and next_action—then stores the typed result for the next turn.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12</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When one agent is enough</a:t>
            </a:r>
          </a:p>
          <a:p>
            <a:pPr algn="l">
              <a:spcAft>
                <a:spcPts val="300"/>
              </a:spcAft>
            </a:pPr>
            <a:r>
              <a:rPr sz="1200" b="0">
                <a:solidFill>
                  <a:srgbClr val="5B6372"/>
                </a:solidFill>
                <a:latin typeface="Arial"/>
              </a:rPr>
              <a:t>Prefer one focused agent while one instruction set and one tool boundary remain understandable; split only when roles truly diverge.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Multi Agent Aplications with Gemini ADK (C829)  ·  C829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Hands-On Labs — Single Agent Foundations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1</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Create the SupportOps Agent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 2</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Add Structured Triage and Sessions</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Multi Agent Aplications with Gemini ADK (C829)  ·  C829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transition spd="med">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Create the SupportOps Agent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161B26"/>
                </a:solidFill>
                <a:latin typeface="Arial"/>
              </a:rPr>
              <a:t>You create an isolated Python environment, configure a placeholder-based Gemini connection, inspect the ADK project contract, and run a minimal SupportOps agent in the ADK development web UI. The finished checkpoint proves the full user → Runner → agent → model → event → response path before tools, memory, or delegation add complexity.</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34840"/>
            <a:ext cx="10058400" cy="822960"/>
          </a:xfrm>
          <a:prstGeom prst="rect">
            <a:avLst/>
          </a:prstGeom>
          <a:noFill/>
        </p:spPr>
        <p:txBody>
          <a:bodyPr wrap="square" anchor="t">
            <a:spAutoFit/>
          </a:bodyPr>
          <a:lstStyle/>
          <a:p>
            <a:pPr algn="l">
              <a:spcAft>
                <a:spcPts val="400"/>
              </a:spcAft>
            </a:pPr>
            <a:r>
              <a:rPr sz="1800" b="1">
                <a:solidFill>
                  <a:srgbClr val="161B26"/>
                </a:solidFill>
                <a:latin typeface="Arial"/>
              </a:rPr>
              <a:t>A clean work/ project containing a discoverable support_ops.root_agent and a captured first-turn event trace.</a:t>
            </a:r>
          </a:p>
        </p:txBody>
      </p:sp>
      <p:sp>
        <p:nvSpPr>
          <p:cNvPr id="13" name="TextBox 12"/>
          <p:cNvSpPr txBox="1"/>
          <p:nvPr/>
        </p:nvSpPr>
        <p:spPr>
          <a:xfrm>
            <a:off x="1005840" y="5321808"/>
            <a:ext cx="10241280" cy="320040"/>
          </a:xfrm>
          <a:prstGeom prst="rect">
            <a:avLst/>
          </a:prstGeom>
          <a:noFill/>
        </p:spPr>
        <p:txBody>
          <a:bodyPr wrap="square" anchor="t">
            <a:spAutoFit/>
          </a:bodyPr>
          <a:lstStyle/>
          <a:p>
            <a:pPr algn="l">
              <a:spcAft>
                <a:spcPts val="400"/>
              </a:spcAft>
            </a:pPr>
            <a:r>
              <a:rPr sz="1100" b="1">
                <a:solidFill>
                  <a:srgbClr val="5B6372"/>
                </a:solidFill>
                <a:latin typeface="Arial"/>
              </a:rPr>
              <a:t>Tools:  </a:t>
            </a:r>
            <a:r>
              <a:rPr sz="1100" b="0">
                <a:solidFill>
                  <a:srgbClr val="5B6372"/>
                </a:solidFill>
                <a:latin typeface="Arial"/>
              </a:rPr>
              <a:t>Python 3.10+, Google ADK 2.5.0, Gemini 3.6 Flash, ADK Web</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Multi Agent Aplications with Gemini ADK (C829)  ·  C829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transition spd="med">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Create the SupportOps Agent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1</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Run the smallest complete path first: expose root_agent, start ADK Web, send one synthetic ticket, then inspect the event trace before adding more moving parts.</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adk web work</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Multi Agent Aplications with Gemini ADK (C829)  ·  C829</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Create the SupportOps Agent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8803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2971800"/>
            <a:ext cx="10058400" cy="1783080"/>
          </a:xfrm>
          <a:prstGeom prst="rect">
            <a:avLst/>
          </a:prstGeom>
          <a:noFill/>
        </p:spPr>
        <p:txBody>
          <a:bodyPr wrap="square" anchor="t">
            <a:spAutoFit/>
          </a:bodyPr>
          <a:lstStyle/>
          <a:p>
            <a:pPr algn="l">
              <a:spcAft>
                <a:spcPts val="400"/>
              </a:spcAft>
            </a:pPr>
            <a:r>
              <a:rPr sz="1800" b="0">
                <a:solidFill>
                  <a:srgbClr val="161B26"/>
                </a:solidFill>
                <a:latin typeface="Arial"/>
              </a:rPr>
              <a:t>Run the portable pytest wrapper from Step 6 and expect all tests to pass. In ADK Web, the prompt must return a helpful support-oriented response, and the event panel must show one user message followed by a model-generated response with no tool call. Confirm work/CHECKPOINT-LAB-01.txt exists.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Multi Agent Aplications with Gemini ADK (C829)  ·  C829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Add Structured Triage and Sessions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161B26"/>
                </a:solidFill>
                <a:latin typeface="Arial"/>
              </a:rPr>
              <a:t>You replace free-form triage with a Pydantic contract, store the latest validated result through output_key, and inspect how two turns share one session. The lab demonstrates why structured output is an interface, not merely a formatting preference, and why an in-memory development session should not be mistaken for durable production storage.</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34840"/>
            <a:ext cx="10058400" cy="822960"/>
          </a:xfrm>
          <a:prstGeom prst="rect">
            <a:avLst/>
          </a:prstGeom>
          <a:noFill/>
        </p:spPr>
        <p:txBody>
          <a:bodyPr wrap="square" anchor="t">
            <a:spAutoFit/>
          </a:bodyPr>
          <a:lstStyle/>
          <a:p>
            <a:pPr algn="l">
              <a:spcAft>
                <a:spcPts val="400"/>
              </a:spcAft>
            </a:pPr>
            <a:r>
              <a:rPr sz="1600" b="1">
                <a:solidFill>
                  <a:srgbClr val="161B26"/>
                </a:solidFill>
                <a:latin typeface="Arial"/>
              </a:rPr>
              <a:t>A typed TicketTriage response with category, urgency, summary, and next_action stored as latest_triage in the active session.</a:t>
            </a:r>
          </a:p>
        </p:txBody>
      </p:sp>
      <p:sp>
        <p:nvSpPr>
          <p:cNvPr id="13" name="TextBox 12"/>
          <p:cNvSpPr txBox="1"/>
          <p:nvPr/>
        </p:nvSpPr>
        <p:spPr>
          <a:xfrm>
            <a:off x="1005840" y="5321808"/>
            <a:ext cx="10241280" cy="320040"/>
          </a:xfrm>
          <a:prstGeom prst="rect">
            <a:avLst/>
          </a:prstGeom>
          <a:noFill/>
        </p:spPr>
        <p:txBody>
          <a:bodyPr wrap="square" anchor="t">
            <a:spAutoFit/>
          </a:bodyPr>
          <a:lstStyle/>
          <a:p>
            <a:pPr algn="l">
              <a:spcAft>
                <a:spcPts val="400"/>
              </a:spcAft>
            </a:pPr>
            <a:r>
              <a:rPr sz="1100" b="1">
                <a:solidFill>
                  <a:srgbClr val="5B6372"/>
                </a:solidFill>
                <a:latin typeface="Arial"/>
              </a:rPr>
              <a:t>Tools:  </a:t>
            </a:r>
            <a:r>
              <a:rPr sz="1100" b="0">
                <a:solidFill>
                  <a:srgbClr val="5B6372"/>
                </a:solidFill>
                <a:latin typeface="Arial"/>
              </a:rPr>
              <a:t>Google ADK, Pydantic, ADK Web session and event inspector, pytest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Multi Agent Aplications with Gemini ADK (C829)  ·  C829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Add Structured Triage and Sessions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1</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Treat the model output as an API: validate four bounded fields, store the result under latest_triage, and inspect both the event history and the session state.</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output_schema=TicketTriage, output_key='latest_triage'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Multi Agent Aplications with Gemini ADK (C829)  ·  C829</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transition spd="med">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Add Structured Triage and Sessions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8803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2971800"/>
            <a:ext cx="10058400" cy="1783080"/>
          </a:xfrm>
          <a:prstGeom prst="rect">
            <a:avLst/>
          </a:prstGeom>
          <a:noFill/>
        </p:spPr>
        <p:txBody>
          <a:bodyPr wrap="square" anchor="t">
            <a:spAutoFit/>
          </a:bodyPr>
          <a:lstStyle/>
          <a:p>
            <a:pPr algn="l">
              <a:spcAft>
                <a:spcPts val="400"/>
              </a:spcAft>
            </a:pPr>
            <a:r>
              <a:rPr sz="1600" b="0">
                <a:solidFill>
                  <a:srgbClr val="161B26"/>
                </a:solidFill>
                <a:latin typeface="Arial"/>
              </a:rPr>
              <a:t>From the repository root, the portable pytest command in Step 4 must pass. A billing prompt must return schema-valid JSON whose category is billing, and the ADK state panel must contain latest_triage. A second turn in the same session should use prior context; the same turn in a new session should require clarification.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Multi Agent Aplications with Gemini ADK (C829)  ·  C829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transition spd="med">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Recap — Single Agent Foundations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You can now: LO1: Explain the ADK lifecycle and configure a focused Gemini root agent.</a:t>
            </a:r>
          </a:p>
        </p:txBody>
      </p:sp>
      <p:sp>
        <p:nvSpPr>
          <p:cNvPr id="12" name="Rectangle 11"/>
          <p:cNvSpPr/>
          <p:nvPr/>
        </p:nvSpPr>
        <p:spPr>
          <a:xfrm>
            <a:off x="777240" y="4059936"/>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You can now: LO1, LO3: Validate structured agent output and distinguish session events from session state.</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Multi Agent Aplications with Gemini ADK (C829)  ·  C829</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DC2626"/>
                </a:solidFill>
                <a:latin typeface="Arial"/>
              </a:rPr>
              <a:t>TOPIC 02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Tools, Memory and Sessions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Function calling · External APIs · Tool errors · Session state · Long-term memory · Vector retrieval</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Multi Agent Aplications with Gemini ADK (C829)  ·  C829</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KEY CONCEPTS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Key Concepts — Tools, Memory and Sessions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Tool contract</a:t>
            </a:r>
          </a:p>
          <a:p>
            <a:pPr algn="l">
              <a:spcAft>
                <a:spcPts val="300"/>
              </a:spcAft>
            </a:pPr>
            <a:r>
              <a:rPr sz="1200" b="0">
                <a:solidFill>
                  <a:srgbClr val="5B6372"/>
                </a:solidFill>
                <a:latin typeface="Arial"/>
              </a:rPr>
              <a:t>A tool has a name, purpose, typed arguments, documented constraints, and a structured result the model can interpret.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Schemas from Python</a:t>
            </a:r>
          </a:p>
          <a:p>
            <a:pPr algn="l">
              <a:spcAft>
                <a:spcPts val="300"/>
              </a:spcAft>
            </a:pPr>
            <a:r>
              <a:rPr sz="1200" b="0">
                <a:solidFill>
                  <a:srgbClr val="5B6372"/>
                </a:solidFill>
                <a:latin typeface="Arial"/>
              </a:rPr>
              <a:t>ADK inspects function names, type hints, defaults, and docstrings; ambiguous signatures create ambiguous tool calls.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Execution loop</a:t>
            </a:r>
          </a:p>
          <a:p>
            <a:pPr algn="l">
              <a:spcAft>
                <a:spcPts val="300"/>
              </a:spcAft>
            </a:pPr>
            <a:r>
              <a:rPr sz="1200" b="0">
                <a:solidFill>
                  <a:srgbClr val="5B6372"/>
                </a:solidFill>
                <a:latin typeface="Arial"/>
              </a:rPr>
              <a:t>Gemini selects a tool, ADK validates arguments, application code executes it, and the result returns to the model for the next decision.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Read versus write tools</a:t>
            </a:r>
          </a:p>
          <a:p>
            <a:pPr algn="l">
              <a:spcAft>
                <a:spcPts val="300"/>
              </a:spcAft>
            </a:pPr>
            <a:r>
              <a:rPr sz="1200" b="0">
                <a:solidFill>
                  <a:srgbClr val="5B6372"/>
                </a:solidFill>
                <a:latin typeface="Arial"/>
              </a:rPr>
              <a:t>Queries are lower risk. Mutating tools need authorisation, confirmation, idempotency, and a record of what changed.</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Secrets</a:t>
            </a:r>
          </a:p>
          <a:p>
            <a:pPr algn="l">
              <a:spcAft>
                <a:spcPts val="300"/>
              </a:spcAft>
            </a:pPr>
            <a:r>
              <a:rPr sz="1200" b="0">
                <a:solidFill>
                  <a:srgbClr val="5B6372"/>
                </a:solidFill>
                <a:latin typeface="Arial"/>
              </a:rPr>
              <a:t>Credentials belong in environment variables or a managed secret store—never source code, prompts, logs, screenshots, or tool results.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External API reliability</a:t>
            </a:r>
          </a:p>
          <a:p>
            <a:pPr algn="l">
              <a:spcAft>
                <a:spcPts val="300"/>
              </a:spcAft>
            </a:pPr>
            <a:r>
              <a:rPr sz="1200" b="0">
                <a:solidFill>
                  <a:srgbClr val="5B6372"/>
                </a:solidFill>
                <a:latin typeface="Arial"/>
              </a:rPr>
              <a:t>Set timeouts, validate status and payload, retry only safe failures, respect rate limits, and preserve correlation IDs.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Multi Agent Aplications with Gemini ADK (C829)  ·  C829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KEY CONCEPTS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Key Concepts — Tools, Memory and Sessions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Errors as data</a:t>
            </a:r>
          </a:p>
          <a:p>
            <a:pPr algn="l">
              <a:spcAft>
                <a:spcPts val="300"/>
              </a:spcAft>
            </a:pPr>
            <a:r>
              <a:rPr sz="1200" b="0">
                <a:solidFill>
                  <a:srgbClr val="5B6372"/>
                </a:solidFill>
                <a:latin typeface="Arial"/>
              </a:rPr>
              <a:t>Return a stable status and recoverable message so the agent can explain, retry safely, or ask for missing information.</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Tool chaining</a:t>
            </a:r>
          </a:p>
          <a:p>
            <a:pPr algn="l">
              <a:spcAft>
                <a:spcPts val="300"/>
              </a:spcAft>
            </a:pPr>
            <a:r>
              <a:rPr sz="1200" b="0">
                <a:solidFill>
                  <a:srgbClr val="5B6372"/>
                </a:solidFill>
                <a:latin typeface="Arial"/>
              </a:rPr>
              <a:t>Let each tool do one job and pass compact results forward; long chains multiply latency, cost, permissions, and failure modes.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9</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State scopes</a:t>
            </a:r>
          </a:p>
          <a:p>
            <a:pPr algn="l">
              <a:spcAft>
                <a:spcPts val="300"/>
              </a:spcAft>
            </a:pPr>
            <a:r>
              <a:rPr sz="1200" b="0">
                <a:solidFill>
                  <a:srgbClr val="5B6372"/>
                </a:solidFill>
                <a:latin typeface="Arial"/>
              </a:rPr>
              <a:t>Session state tracks one thread; user- and app-scoped prefixes support wider persistence when the selected service stores them.</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10</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Memory versus history</a:t>
            </a:r>
          </a:p>
          <a:p>
            <a:pPr algn="l">
              <a:spcAft>
                <a:spcPts val="300"/>
              </a:spcAft>
            </a:pPr>
            <a:r>
              <a:rPr sz="1200" b="0">
                <a:solidFill>
                  <a:srgbClr val="5B6372"/>
                </a:solidFill>
                <a:latin typeface="Arial"/>
              </a:rPr>
              <a:t>History records what happened; state holds current working facts; memory is searchable knowledge across sessions or sources.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11</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Vector retrieval</a:t>
            </a:r>
          </a:p>
          <a:p>
            <a:pPr algn="l">
              <a:spcAft>
                <a:spcPts val="300"/>
              </a:spcAft>
            </a:pPr>
            <a:r>
              <a:rPr sz="1200" b="0">
                <a:solidFill>
                  <a:srgbClr val="5B6372"/>
                </a:solidFill>
                <a:latin typeface="Arial"/>
              </a:rPr>
              <a:t>Chunk documents, create embeddings, store vectors with metadata, retrieve top matches, then ground the response in returned evidence.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12</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Use memory deliberately</a:t>
            </a:r>
          </a:p>
          <a:p>
            <a:pPr algn="l">
              <a:spcAft>
                <a:spcPts val="300"/>
              </a:spcAft>
            </a:pPr>
            <a:r>
              <a:rPr sz="1200" b="0">
                <a:solidFill>
                  <a:srgbClr val="5B6372"/>
                </a:solidFill>
                <a:latin typeface="Arial"/>
              </a:rPr>
              <a:t>Store stable preferences and reusable facts, not every utterance. Apply retention, consent, access, and deletion rules.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Multi Agent Aplications with Gemini ADK (C829)  ·  C829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transition spd="med">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Hands-On Labs — Tools, Memory and Sessions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3</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Connect Reliable Function Tools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 4</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Add Searchable Knowledge and Memory</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Multi Agent Aplications with Gemini ADK (C829)  ·  C829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transition spd="med">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Connect Reliable Function Tools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161B26"/>
                </a:solidFill>
                <a:latin typeface="Arial"/>
              </a:rPr>
              <a:t>You run a local synthetic support API, wrap it with ADK function tools, and give the agent a deliberately small capability surface. The read path validates identifiers and normalises HTTP failures; the write path requires an idempotency key and explicit user intent. This creates a tool contract the model can reason about without receiving credentials or raw exceptions.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34840"/>
            <a:ext cx="10058400" cy="822960"/>
          </a:xfrm>
          <a:prstGeom prst="rect">
            <a:avLst/>
          </a:prstGeom>
          <a:noFill/>
        </p:spPr>
        <p:txBody>
          <a:bodyPr wrap="square" anchor="t">
            <a:spAutoFit/>
          </a:bodyPr>
          <a:lstStyle/>
          <a:p>
            <a:pPr algn="l">
              <a:spcAft>
                <a:spcPts val="400"/>
              </a:spcAft>
            </a:pPr>
            <a:r>
              <a:rPr sz="1600" b="1">
                <a:solidFill>
                  <a:srgbClr val="161B26"/>
                </a:solidFill>
                <a:latin typeface="Arial"/>
              </a:rPr>
              <a:t>A tool-enabled SupportOps agent that can retrieve a synthetic ticket and safely change its priority through a local HTTP API.</a:t>
            </a:r>
          </a:p>
        </p:txBody>
      </p:sp>
      <p:sp>
        <p:nvSpPr>
          <p:cNvPr id="13" name="TextBox 12"/>
          <p:cNvSpPr txBox="1"/>
          <p:nvPr/>
        </p:nvSpPr>
        <p:spPr>
          <a:xfrm>
            <a:off x="1005840" y="5321808"/>
            <a:ext cx="10241280" cy="320040"/>
          </a:xfrm>
          <a:prstGeom prst="rect">
            <a:avLst/>
          </a:prstGeom>
          <a:noFill/>
        </p:spPr>
        <p:txBody>
          <a:bodyPr wrap="square" anchor="t">
            <a:spAutoFit/>
          </a:bodyPr>
          <a:lstStyle/>
          <a:p>
            <a:pPr algn="l">
              <a:spcAft>
                <a:spcPts val="400"/>
              </a:spcAft>
            </a:pPr>
            <a:r>
              <a:rPr sz="1100" b="1">
                <a:solidFill>
                  <a:srgbClr val="5B6372"/>
                </a:solidFill>
                <a:latin typeface="Arial"/>
              </a:rPr>
              <a:t>Tools:  </a:t>
            </a:r>
            <a:r>
              <a:rPr sz="1100" b="0">
                <a:solidFill>
                  <a:srgbClr val="5B6372"/>
                </a:solidFill>
                <a:latin typeface="Arial"/>
              </a:rPr>
              <a:t>Google ADK Function Tools, FastAPI, Uvicorn, HTTPX, pytest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Multi Agent Aplications with Gemini ADK (C829)  ·  C829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transition spd="med">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Connect Reliable Function Tools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1</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Separate the model from the HTTP boundary: validate first, call with a timeout, return stable status data, and make writes idempotent and explicitly authorised.</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get_ticket → HTTP API → structured result; update_ticket_priority → idempotency key → audited change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Multi Agent Aplications with Gemini ADK (C829)  ·  C829</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transition spd="med">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Connect Reliable Function Tools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8803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2971800"/>
            <a:ext cx="10058400" cy="1783080"/>
          </a:xfrm>
          <a:prstGeom prst="rect">
            <a:avLst/>
          </a:prstGeom>
          <a:noFill/>
        </p:spPr>
        <p:txBody>
          <a:bodyPr wrap="square" anchor="t">
            <a:spAutoFit/>
          </a:bodyPr>
          <a:lstStyle/>
          <a:p>
            <a:pPr algn="l">
              <a:spcAft>
                <a:spcPts val="400"/>
              </a:spcAft>
            </a:pPr>
            <a:r>
              <a:rPr sz="1800" b="0">
                <a:solidFill>
                  <a:srgbClr val="161B26"/>
                </a:solidFill>
                <a:latin typeface="Arial"/>
              </a:rPr>
              <a:t>From the repository root, the portable pytest command must pass. With the local API running, the agent must retrieve TKT-1001, change its priority to medium, and return repeated=true when the same idempotency key is reused. With the API stopped, the agent must report unavailability without inventing fields.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Multi Agent Aplications with Gemini ADK (C829)  ·  C829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transition spd="med">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Add Searchable Knowledge and Memory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4</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161B26"/>
                </a:solidFill>
                <a:latin typeface="Arial"/>
              </a:rPr>
              <a:t>You index synthetic runbook passages in an in-process Chroma vector collection, expose a bounded search tool, and add preference tools backed by ADK ToolContext state. The agent can now ground technical guidance in retrieved evidence and remember a response-style preference without storing every conversation turn. You then inspect what survives a new session and what disappears after the development process restarts.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34840"/>
            <a:ext cx="10058400" cy="822960"/>
          </a:xfrm>
          <a:prstGeom prst="rect">
            <a:avLst/>
          </a:prstGeom>
          <a:noFill/>
        </p:spPr>
        <p:txBody>
          <a:bodyPr wrap="square" anchor="t">
            <a:spAutoFit/>
          </a:bodyPr>
          <a:lstStyle/>
          <a:p>
            <a:pPr algn="l">
              <a:spcAft>
                <a:spcPts val="400"/>
              </a:spcAft>
            </a:pPr>
            <a:r>
              <a:rPr sz="1800" b="1">
                <a:solidFill>
                  <a:srgbClr val="161B26"/>
                </a:solidFill>
                <a:latin typeface="Arial"/>
              </a:rPr>
              <a:t>A SupportOps agent with semantic runbook retrieval, source identifiers, and a user-scoped response-style preference.</a:t>
            </a:r>
          </a:p>
        </p:txBody>
      </p:sp>
      <p:sp>
        <p:nvSpPr>
          <p:cNvPr id="13" name="TextBox 12"/>
          <p:cNvSpPr txBox="1"/>
          <p:nvPr/>
        </p:nvSpPr>
        <p:spPr>
          <a:xfrm>
            <a:off x="1005840" y="5321808"/>
            <a:ext cx="10241280" cy="320040"/>
          </a:xfrm>
          <a:prstGeom prst="rect">
            <a:avLst/>
          </a:prstGeom>
          <a:noFill/>
        </p:spPr>
        <p:txBody>
          <a:bodyPr wrap="square" anchor="t">
            <a:spAutoFit/>
          </a:bodyPr>
          <a:lstStyle/>
          <a:p>
            <a:pPr algn="l">
              <a:spcAft>
                <a:spcPts val="400"/>
              </a:spcAft>
            </a:pPr>
            <a:r>
              <a:rPr sz="1100" b="1">
                <a:solidFill>
                  <a:srgbClr val="5B6372"/>
                </a:solidFill>
                <a:latin typeface="Arial"/>
              </a:rPr>
              <a:t>Tools:  </a:t>
            </a:r>
            <a:r>
              <a:rPr sz="1100" b="0">
                <a:solidFill>
                  <a:srgbClr val="5B6372"/>
                </a:solidFill>
                <a:latin typeface="Arial"/>
              </a:rPr>
              <a:t>Chroma 1.5.9, Google ADK ToolContext, session state, pytest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Multi Agent Aplications with Gemini ADK (C829)  ·  C829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Add Searchable Knowledge and Memory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1</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Use the right context store for the job: vector retrieval for reusable runbook evidence, user-scoped state for one stable preference, and events for the immutable interaction history.</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query → embedding → Chroma top matches → source-aware answer; ToolContext → user:response_style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Multi Agent Aplications with Gemini ADK (C829)  ·  C829</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Add Searchable Knowledge and Memory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8803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2971800"/>
            <a:ext cx="10058400" cy="1783080"/>
          </a:xfrm>
          <a:prstGeom prst="rect">
            <a:avLst/>
          </a:prstGeom>
          <a:noFill/>
        </p:spPr>
        <p:txBody>
          <a:bodyPr wrap="square" anchor="t">
            <a:spAutoFit/>
          </a:bodyPr>
          <a:lstStyle/>
          <a:p>
            <a:pPr algn="l">
              <a:spcAft>
                <a:spcPts val="400"/>
              </a:spcAft>
            </a:pPr>
            <a:r>
              <a:rPr sz="1800" b="0">
                <a:solidFill>
                  <a:srgbClr val="161B26"/>
                </a:solidFill>
                <a:latin typeface="Arial"/>
              </a:rPr>
              <a:t>From the repository root, the portable pytest command must pass. A duplicate-charge query must invoke search_knowledge and cite RB-BILL-01. After remember_response_style stores detailed, the same user should retrieve that value in a new session while the development service remains running.</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Multi Agent Aplications with Gemini ADK (C829)  ·  C829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transition spd="med">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Recap — Tools, Memory and Sessions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You can now: LO2: Build typed read and write tools around an external API with validation, timeouts, idempotency, and recoverable errors.</a:t>
            </a:r>
          </a:p>
        </p:txBody>
      </p:sp>
      <p:sp>
        <p:nvSpPr>
          <p:cNvPr id="12" name="Rectangle 11"/>
          <p:cNvSpPr/>
          <p:nvPr/>
        </p:nvSpPr>
        <p:spPr>
          <a:xfrm>
            <a:off x="777240" y="4059936"/>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You can now: LO3: Implement vector-backed knowledge retrieval and user-scoped state while keeping history, state, and memory conceptually separate.</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Multi Agent Aplications with Gemini ADK (C829)  ·  C829</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transition spd="med">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Multi-Agent Architecture</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Specialisation · Coordinator and hierarchy · Delegation · Shared context · Graph workflows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Multi Agent Aplications with Gemini ADK (C829)  ·  C829</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transition spd="med">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KEY CONCEPTS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Key Concepts — Multi-Agent Architecture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Why multiple agents</a:t>
            </a:r>
          </a:p>
          <a:p>
            <a:pPr algn="l">
              <a:spcAft>
                <a:spcPts val="300"/>
              </a:spcAft>
            </a:pPr>
            <a:r>
              <a:rPr sz="1200" b="0">
                <a:solidFill>
                  <a:srgbClr val="5B6372"/>
                </a:solidFill>
                <a:latin typeface="Arial"/>
              </a:rPr>
              <a:t>Split a system when distinct roles need different instructions, tools, permissions, models, ownership, or evaluation criteria.</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Specialisation</a:t>
            </a:r>
          </a:p>
          <a:p>
            <a:pPr algn="l">
              <a:spcAft>
                <a:spcPts val="300"/>
              </a:spcAft>
            </a:pPr>
            <a:r>
              <a:rPr sz="1200" b="0">
                <a:solidFill>
                  <a:srgbClr val="5B6372"/>
                </a:solidFill>
                <a:latin typeface="Arial"/>
              </a:rPr>
              <a:t>A specialist owns a narrow outcome and small tool surface. Clear boundaries improve reasoning, testing, and least privilege.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Coordinator pattern</a:t>
            </a:r>
          </a:p>
          <a:p>
            <a:pPr algn="l">
              <a:spcAft>
                <a:spcPts val="300"/>
              </a:spcAft>
            </a:pPr>
            <a:r>
              <a:rPr sz="1200" b="0">
                <a:solidFill>
                  <a:srgbClr val="5B6372"/>
                </a:solidFill>
                <a:latin typeface="Arial"/>
              </a:rPr>
              <a:t>A coordinator receives the request, selects a specialist, supplies context, checks the result, and communicates one coherent answer.</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Delegation signal</a:t>
            </a:r>
          </a:p>
          <a:p>
            <a:pPr algn="l">
              <a:spcAft>
                <a:spcPts val="300"/>
              </a:spcAft>
            </a:pPr>
            <a:r>
              <a:rPr sz="1200" b="0">
                <a:solidFill>
                  <a:srgbClr val="5B6372"/>
                </a:solidFill>
                <a:latin typeface="Arial"/>
              </a:rPr>
              <a:t>ADK uses specialist names, descriptions, modes, and coordinator instructions to decide when and how work should be delegated.</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Supervisor and hierarchy</a:t>
            </a:r>
          </a:p>
          <a:p>
            <a:pPr algn="l">
              <a:spcAft>
                <a:spcPts val="300"/>
              </a:spcAft>
            </a:pPr>
            <a:r>
              <a:rPr sz="1200" b="0">
                <a:solidFill>
                  <a:srgbClr val="5B6372"/>
                </a:solidFill>
                <a:latin typeface="Arial"/>
              </a:rPr>
              <a:t>A supervisor governs several specialists; deeper hierarchies can scale ownership but add latency and harder failure analysis.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LLM-based routing</a:t>
            </a:r>
          </a:p>
          <a:p>
            <a:pPr algn="l">
              <a:spcAft>
                <a:spcPts val="300"/>
              </a:spcAft>
            </a:pPr>
            <a:r>
              <a:rPr sz="1200" b="0">
                <a:solidFill>
                  <a:srgbClr val="5B6372"/>
                </a:solidFill>
                <a:latin typeface="Arial"/>
              </a:rPr>
              <a:t>Flexible for ambiguous language, but probabilistic. Use bounded labels, examples, fallbacks, and telemetry around routing decisions.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Multi Agent Aplications with Gemini ADK (C829)  ·  C829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KEY CONCEPTS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Key Concepts — Multi-Agent Architecture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Rule-based routing</a:t>
            </a:r>
          </a:p>
          <a:p>
            <a:pPr algn="l">
              <a:spcAft>
                <a:spcPts val="300"/>
              </a:spcAft>
            </a:pPr>
            <a:r>
              <a:rPr sz="1200" b="0">
                <a:solidFill>
                  <a:srgbClr val="5B6372"/>
                </a:solidFill>
                <a:latin typeface="Arial"/>
              </a:rPr>
              <a:t>Fast and predictable for explicit identifiers, permissions, or thresholds; brittle when language and intent are genuinely ambiguous.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Graph workflow</a:t>
            </a:r>
          </a:p>
          <a:p>
            <a:pPr algn="l">
              <a:spcAft>
                <a:spcPts val="300"/>
              </a:spcAft>
            </a:pPr>
            <a:r>
              <a:rPr sz="1200" b="0">
                <a:solidFill>
                  <a:srgbClr val="5B6372"/>
                </a:solidFill>
                <a:latin typeface="Arial"/>
              </a:rPr>
              <a:t>ADK 2.x Workflow edges make order and branches explicit, mixing LLM agents with deterministic functions and typed node outputs.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9</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Pipeline pattern</a:t>
            </a:r>
          </a:p>
          <a:p>
            <a:pPr algn="l">
              <a:spcAft>
                <a:spcPts val="300"/>
              </a:spcAft>
            </a:pPr>
            <a:r>
              <a:rPr sz="1200" b="0">
                <a:solidFill>
                  <a:srgbClr val="5B6372"/>
                </a:solidFill>
                <a:latin typeface="Arial"/>
              </a:rPr>
              <a:t>A fixed classify → enrich → resolve → summarise sequence is appropriate when every request must pass the same controlled stages.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10</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Shared invocation context</a:t>
            </a:r>
          </a:p>
          <a:p>
            <a:pPr algn="l">
              <a:spcAft>
                <a:spcPts val="300"/>
              </a:spcAft>
            </a:pPr>
            <a:r>
              <a:rPr sz="1200" b="0">
                <a:solidFill>
                  <a:srgbClr val="5B6372"/>
                </a:solidFill>
                <a:latin typeface="Arial"/>
              </a:rPr>
              <a:t>Collaborating agents can share session state, but keys and ownership must be documented to prevent accidental overwrites.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11</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Handoff contract</a:t>
            </a:r>
          </a:p>
          <a:p>
            <a:pPr algn="l">
              <a:spcAft>
                <a:spcPts val="300"/>
              </a:spcAft>
            </a:pPr>
            <a:r>
              <a:rPr sz="1200" b="0">
                <a:solidFill>
                  <a:srgbClr val="5B6372"/>
                </a:solidFill>
                <a:latin typeface="Arial"/>
              </a:rPr>
              <a:t>Pass only the task, validated context, evidence, constraints, and expected output—not the coordinator's entire internal prompt.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12</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Failure isolation</a:t>
            </a:r>
          </a:p>
          <a:p>
            <a:pPr algn="l">
              <a:spcAft>
                <a:spcPts val="300"/>
              </a:spcAft>
            </a:pPr>
            <a:r>
              <a:rPr sz="1200" b="0">
                <a:solidFill>
                  <a:srgbClr val="5B6372"/>
                </a:solidFill>
                <a:latin typeface="Arial"/>
              </a:rPr>
              <a:t>Set budgets, timeouts, fallbacks, and escalation paths per specialist so one failing capability does not collapse the whole team.</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Multi Agent Aplications with Gemini ADK (C829)  ·  C829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Hands-On Labs — Multi-Agent Architecture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5</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Build a Specialist Agent Team</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 6</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Orchestrate a Deterministic Resolution Pipeline</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Multi Agent Aplications with Gemini ADK (C829)  ·  C829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transition spd="med">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Build a Specialist Agent Team</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5</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161B26"/>
                </a:solidFill>
                <a:latin typeface="Arial"/>
              </a:rPr>
              <a:t>You split SupportOps into three least-privilege specialists and place them behind one coordinator. Each specialist has a narrow description, instruction, mode, and tool set; the coordinator owns user communication and delegation. You test obvious, ambiguous, and out-of-scope requests to see how model-driven routing behaves and where descriptions become part of the architecture.</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34840"/>
            <a:ext cx="10058400" cy="822960"/>
          </a:xfrm>
          <a:prstGeom prst="rect">
            <a:avLst/>
          </a:prstGeom>
          <a:noFill/>
        </p:spPr>
        <p:txBody>
          <a:bodyPr wrap="square" anchor="t">
            <a:spAutoFit/>
          </a:bodyPr>
          <a:lstStyle/>
          <a:p>
            <a:pPr algn="l">
              <a:spcAft>
                <a:spcPts val="400"/>
              </a:spcAft>
            </a:pPr>
            <a:r>
              <a:rPr sz="1600" b="1">
                <a:solidFill>
                  <a:srgbClr val="161B26"/>
                </a:solidFill>
                <a:latin typeface="Arial"/>
              </a:rPr>
              <a:t>A collaborative ADK agent team whose coordinator delegates synthetic requests to billing, technical, or account specialists.</a:t>
            </a:r>
          </a:p>
        </p:txBody>
      </p:sp>
      <p:sp>
        <p:nvSpPr>
          <p:cNvPr id="13" name="TextBox 12"/>
          <p:cNvSpPr txBox="1"/>
          <p:nvPr/>
        </p:nvSpPr>
        <p:spPr>
          <a:xfrm>
            <a:off x="1005840" y="5321808"/>
            <a:ext cx="10241280" cy="320040"/>
          </a:xfrm>
          <a:prstGeom prst="rect">
            <a:avLst/>
          </a:prstGeom>
          <a:noFill/>
        </p:spPr>
        <p:txBody>
          <a:bodyPr wrap="square" anchor="t">
            <a:spAutoFit/>
          </a:bodyPr>
          <a:lstStyle/>
          <a:p>
            <a:pPr algn="l">
              <a:spcAft>
                <a:spcPts val="400"/>
              </a:spcAft>
            </a:pPr>
            <a:r>
              <a:rPr sz="1100" b="1">
                <a:solidFill>
                  <a:srgbClr val="5B6372"/>
                </a:solidFill>
                <a:latin typeface="Arial"/>
              </a:rPr>
              <a:t>Tools:  </a:t>
            </a:r>
            <a:r>
              <a:rPr sz="1100" b="0">
                <a:solidFill>
                  <a:srgbClr val="5B6372"/>
                </a:solidFill>
                <a:latin typeface="Arial"/>
              </a:rPr>
              <a:t>Google ADK collaborative agents, Gemini 3.6 Flash, specialist tools, ADK trace inspector</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Multi Agent Aplications with Gemini ADK (C829)  ·  C829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transition spd="med">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Build a Specialist Agent Team</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1</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Make delegation legible: each specialist needs a distinct description, one responsibility, the smallest tool set, and automatic return to the coordinator after one bounded task.</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coordinator → billing | technical | account → coordinator → user</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Multi Agent Aplications with Gemini ADK (C829)  ·  C829</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transition spd="med">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Build a Specialist Agent Team</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8803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2971800"/>
            <a:ext cx="10058400" cy="1783080"/>
          </a:xfrm>
          <a:prstGeom prst="rect">
            <a:avLst/>
          </a:prstGeom>
          <a:noFill/>
        </p:spPr>
        <p:txBody>
          <a:bodyPr wrap="square" anchor="t">
            <a:spAutoFit/>
          </a:bodyPr>
          <a:lstStyle/>
          <a:p>
            <a:pPr algn="l">
              <a:spcAft>
                <a:spcPts val="400"/>
              </a:spcAft>
            </a:pPr>
            <a:r>
              <a:rPr sz="1600" b="0">
                <a:solidFill>
                  <a:srgbClr val="161B26"/>
                </a:solidFill>
                <a:latin typeface="Arial"/>
              </a:rPr>
              <a:t>From the repository root, the portable pytest command must pass. In ADK Web, the three obvious prompts must delegate to billing_specialist, technical_specialist, and account_specialist respectively. The technical and account traces must not contain get_ticket. The out-of-scope prompt must not be forced into an unrelated specialist.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Multi Agent Aplications with Gemini ADK (C829)  ·  C829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transition spd="med">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Orchestrate a Deterministic Resolution Pipeline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6</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161B26"/>
                </a:solidFill>
                <a:latin typeface="Arial"/>
              </a:rPr>
              <a:t>You create a graph-based workflow for requests that must follow an explicit process. A typed triage agent emits one bounded category; a deterministic router converts that value into a graph route; and one single-turn resolver produces the final bounded guidance. You compare this reliable process with the flexible coordinator from Lab 5 and document when each pattern is appropriate.</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34840"/>
            <a:ext cx="10058400" cy="822960"/>
          </a:xfrm>
          <a:prstGeom prst="rect">
            <a:avLst/>
          </a:prstGeom>
          <a:noFill/>
        </p:spPr>
        <p:txBody>
          <a:bodyPr wrap="square" anchor="t">
            <a:spAutoFit/>
          </a:bodyPr>
          <a:lstStyle/>
          <a:p>
            <a:pPr algn="l">
              <a:spcAft>
                <a:spcPts val="400"/>
              </a:spcAft>
            </a:pPr>
            <a:r>
              <a:rPr sz="1600" b="1">
                <a:solidFill>
                  <a:srgbClr val="161B26"/>
                </a:solidFill>
                <a:latin typeface="Arial"/>
              </a:rPr>
              <a:t>A SupportOps Workflow with explicit START → triage → route → specialist edges for billing, technical, account, and general requests.</a:t>
            </a:r>
          </a:p>
        </p:txBody>
      </p:sp>
      <p:sp>
        <p:nvSpPr>
          <p:cNvPr id="13" name="TextBox 12"/>
          <p:cNvSpPr txBox="1"/>
          <p:nvPr/>
        </p:nvSpPr>
        <p:spPr>
          <a:xfrm>
            <a:off x="1005840" y="5321808"/>
            <a:ext cx="10241280" cy="320040"/>
          </a:xfrm>
          <a:prstGeom prst="rect">
            <a:avLst/>
          </a:prstGeom>
          <a:noFill/>
        </p:spPr>
        <p:txBody>
          <a:bodyPr wrap="square" anchor="t">
            <a:spAutoFit/>
          </a:bodyPr>
          <a:lstStyle/>
          <a:p>
            <a:pPr algn="l">
              <a:spcAft>
                <a:spcPts val="400"/>
              </a:spcAft>
            </a:pPr>
            <a:r>
              <a:rPr sz="1100" b="1">
                <a:solidFill>
                  <a:srgbClr val="5B6372"/>
                </a:solidFill>
                <a:latin typeface="Arial"/>
              </a:rPr>
              <a:t>Tools:  </a:t>
            </a:r>
            <a:r>
              <a:rPr sz="1100" b="0">
                <a:solidFill>
                  <a:srgbClr val="5B6372"/>
                </a:solidFill>
                <a:latin typeface="Arial"/>
              </a:rPr>
              <a:t>Google ADK 2.x Workflow, Event routing, Pydantic schemas, Gemini specialist nodes, pytest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Multi Agent Aplications with Gemini ADK (C829)  ·  C829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transition spd="med">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Orchestrate a Deterministic Resolution Pipeline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1</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Use the graph when process control matters: typed triage creates one route label, a deterministic function emits that route, and only the matching resolver runs.</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START → triage_agent → route_triage → {billing | technical | account | general}</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Multi Agent Aplications with Gemini ADK (C829)  ·  C829</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transition spd="med">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Orchestrate a Deterministic Resolution Pipeline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8803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2971800"/>
            <a:ext cx="10058400" cy="1783080"/>
          </a:xfrm>
          <a:prstGeom prst="rect">
            <a:avLst/>
          </a:prstGeom>
          <a:noFill/>
        </p:spPr>
        <p:txBody>
          <a:bodyPr wrap="square" anchor="t">
            <a:spAutoFit/>
          </a:bodyPr>
          <a:lstStyle/>
          <a:p>
            <a:pPr algn="l">
              <a:spcAft>
                <a:spcPts val="400"/>
              </a:spcAft>
            </a:pPr>
            <a:r>
              <a:rPr sz="1600" b="0">
                <a:solidFill>
                  <a:srgbClr val="161B26"/>
                </a:solidFill>
                <a:latin typeface="Arial"/>
              </a:rPr>
              <a:t>From the repository root, the portable pytest command must pass. Each clear prompt must follow triage_node → route_triage → exactly one matching resolver, with the chosen category visible in the triage output. No ticket or knowledge tool should run in this controlled graph checkpoint because the resolver contract explicitly forbids claiming external work.</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Multi Agent Aplications with Gemini ADK (C829)  ·  C829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transition spd="med">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Recap — Multi-Agent Architecture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You can now: LO4: Design a coordinator with bounded billing, technical, and account specialists using clear delegation contracts.</a:t>
            </a:r>
          </a:p>
        </p:txBody>
      </p:sp>
      <p:sp>
        <p:nvSpPr>
          <p:cNvPr id="12" name="Rectangle 11"/>
          <p:cNvSpPr/>
          <p:nvPr/>
        </p:nvSpPr>
        <p:spPr>
          <a:xfrm>
            <a:off x="777240" y="4059936"/>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You can now: LO4, LO5: Build an ADK graph workflow that constrains classification, routing, and specialist execution through typed edges.</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Multi Agent Aplications with Gemini ADK (C829)  ·  C829</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transition spd="med">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0B981"/>
                </a:solidFill>
                <a:latin typeface="Arial"/>
              </a:rPr>
              <a:t>TOPIC 04</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MCP and Production Design</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MCP discovery · Structured context · Routing · Observability · Guardrails · Deployment and scale</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04</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Multi Agent Aplications with Gemini ADK (C829)  ·  C829</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transition spd="med">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KEY CONCEPTS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Key Concepts — MCP and Production Design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MCP client and server</a:t>
            </a:r>
          </a:p>
          <a:p>
            <a:pPr algn="l">
              <a:spcAft>
                <a:spcPts val="300"/>
              </a:spcAft>
            </a:pPr>
            <a:r>
              <a:rPr sz="1200" b="0">
                <a:solidFill>
                  <a:srgbClr val="5B6372"/>
                </a:solidFill>
                <a:latin typeface="Arial"/>
              </a:rPr>
              <a:t>An MCP server publishes capabilities; an ADK McpToolset acts as a client and adapts discovered tools for an agent.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Protocol primitives</a:t>
            </a:r>
          </a:p>
          <a:p>
            <a:pPr algn="l">
              <a:spcAft>
                <a:spcPts val="300"/>
              </a:spcAft>
            </a:pPr>
            <a:r>
              <a:rPr sz="1200" b="0">
                <a:solidFill>
                  <a:srgbClr val="5B6372"/>
                </a:solidFill>
                <a:latin typeface="Arial"/>
              </a:rPr>
              <a:t>Tools perform actions, resources expose data, and prompts provide reusable interaction templates through declared schemas.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Capability discovery</a:t>
            </a:r>
          </a:p>
          <a:p>
            <a:pPr algn="l">
              <a:spcAft>
                <a:spcPts val="300"/>
              </a:spcAft>
            </a:pPr>
            <a:r>
              <a:rPr sz="1200" b="0">
                <a:solidFill>
                  <a:srgbClr val="5B6372"/>
                </a:solidFill>
                <a:latin typeface="Arial"/>
              </a:rPr>
              <a:t>The client lists server tools at runtime, reads their schemas, and exposes only the approved subset to the model.</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Structured context</a:t>
            </a:r>
          </a:p>
          <a:p>
            <a:pPr algn="l">
              <a:spcAft>
                <a:spcPts val="300"/>
              </a:spcAft>
            </a:pPr>
            <a:r>
              <a:rPr sz="1200" b="0">
                <a:solidFill>
                  <a:srgbClr val="5B6372"/>
                </a:solidFill>
                <a:latin typeface="Arial"/>
              </a:rPr>
              <a:t>Typed arguments, results, metadata, identity, and correlation IDs create an inspectable context envelope between components.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Least-privilege filtering</a:t>
            </a:r>
          </a:p>
          <a:p>
            <a:pPr algn="l">
              <a:spcAft>
                <a:spcPts val="300"/>
              </a:spcAft>
            </a:pPr>
            <a:r>
              <a:rPr sz="1200" b="0">
                <a:solidFill>
                  <a:srgbClr val="5B6372"/>
                </a:solidFill>
                <a:latin typeface="Arial"/>
              </a:rPr>
              <a:t>Use tool filters, read-only modes, scoped credentials, and separate servers so an agent sees only what its role needs.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Connection lifecycle</a:t>
            </a:r>
          </a:p>
          <a:p>
            <a:pPr algn="l">
              <a:spcAft>
                <a:spcPts val="300"/>
              </a:spcAft>
            </a:pPr>
            <a:r>
              <a:rPr sz="1200" b="0">
                <a:solidFill>
                  <a:srgbClr val="5B6372"/>
                </a:solidFill>
                <a:latin typeface="Arial"/>
              </a:rPr>
              <a:t>Local stdio and remote HTTP transports have different scaling, authentication, timeout, and shutdown requirements.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Multi Agent Aplications with Gemini ADK (C829)  ·  C829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transition spd="med">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KEY CONCEPTS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Key Concepts — MCP and Production Design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Routing strategy</a:t>
            </a:r>
          </a:p>
          <a:p>
            <a:pPr algn="l">
              <a:spcAft>
                <a:spcPts val="300"/>
              </a:spcAft>
            </a:pPr>
            <a:r>
              <a:rPr sz="1200" b="0">
                <a:solidFill>
                  <a:srgbClr val="5B6372"/>
                </a:solidFill>
                <a:latin typeface="Arial"/>
              </a:rPr>
              <a:t>Combine deterministic rules for policy with model routing for ambiguity; record the chosen route and why it was selected.</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Observability</a:t>
            </a:r>
          </a:p>
          <a:p>
            <a:pPr algn="l">
              <a:spcAft>
                <a:spcPts val="300"/>
              </a:spcAft>
            </a:pPr>
            <a:r>
              <a:rPr sz="1200" b="0">
                <a:solidFill>
                  <a:srgbClr val="5B6372"/>
                </a:solidFill>
                <a:latin typeface="Arial"/>
              </a:rPr>
              <a:t>Correlate logs, traces, metrics, events, model calls, tool calls, latency, token use, errors, and outcomes across one request.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9</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Evaluation</a:t>
            </a:r>
          </a:p>
          <a:p>
            <a:pPr algn="l">
              <a:spcAft>
                <a:spcPts val="300"/>
              </a:spcAft>
            </a:pPr>
            <a:r>
              <a:rPr sz="1200" b="0">
                <a:solidFill>
                  <a:srgbClr val="5B6372"/>
                </a:solidFill>
                <a:latin typeface="Arial"/>
              </a:rPr>
              <a:t>Test final answers, route choice, tool trajectories, safety behaviour, latency, and cost with representative multi-turn cases.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10</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Guardrail layers</a:t>
            </a:r>
          </a:p>
          <a:p>
            <a:pPr algn="l">
              <a:spcAft>
                <a:spcPts val="300"/>
              </a:spcAft>
            </a:pPr>
            <a:r>
              <a:rPr sz="1200" b="0">
                <a:solidFill>
                  <a:srgbClr val="5B6372"/>
                </a:solidFill>
                <a:latin typeface="Arial"/>
              </a:rPr>
              <a:t>Validate input, authorise tools, constrain arguments, inspect results, filter output, and require human approval for high-impact actions.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11</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Threat model</a:t>
            </a:r>
          </a:p>
          <a:p>
            <a:pPr algn="l">
              <a:spcAft>
                <a:spcPts val="300"/>
              </a:spcAft>
            </a:pPr>
            <a:r>
              <a:rPr sz="1200" b="0">
                <a:solidFill>
                  <a:srgbClr val="5B6372"/>
                </a:solidFill>
                <a:latin typeface="Arial"/>
              </a:rPr>
              <a:t>Plan for prompt injection, data exfiltration, excessive agency, confused deputy risks, poisoned memory, and unsafe tool chaining.</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12</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Deployment and scale</a:t>
            </a:r>
          </a:p>
          <a:p>
            <a:pPr algn="l">
              <a:spcAft>
                <a:spcPts val="300"/>
              </a:spcAft>
            </a:pPr>
            <a:r>
              <a:rPr sz="1200" b="0">
                <a:solidFill>
                  <a:srgbClr val="5B6372"/>
                </a:solidFill>
                <a:latin typeface="Arial"/>
              </a:rPr>
              <a:t>Externalise state, package dependencies, add health checks, cap concurrency, manage quotas, and choose Agent Runtime, Cloud Run, GKE, or another container host.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Multi Agent Aplications with Gemini ADK (C829)  ·  C829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transition spd="med">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Hands-On Labs — MCP and Production Design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7</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Discover Tools Through MCP</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 8</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Harden, Observe, and Package SupportOps</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Multi Agent Aplications with Gemini ADK (C829)  ·  C829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transition spd="med">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Discover Tools Through MCP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7</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161B26"/>
                </a:solidFill>
                <a:latin typeface="Arial"/>
              </a:rPr>
              <a:t>You move runbook lookup behind a local Model Context Protocol server and connect an ADK agent through McpToolset over stdio. The agent discovers the server's schema at runtime, while tool_filter limits the exposed capability to one approved read-only tool. You inspect discovery, invocation, source-labelled results, connection lifecycle, and the trust boundary between server data and agent instructions.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34840"/>
            <a:ext cx="10058400" cy="822960"/>
          </a:xfrm>
          <a:prstGeom prst="rect">
            <a:avLst/>
          </a:prstGeom>
          <a:noFill/>
        </p:spPr>
        <p:txBody>
          <a:bodyPr wrap="square" anchor="t">
            <a:spAutoFit/>
          </a:bodyPr>
          <a:lstStyle/>
          <a:p>
            <a:pPr algn="l">
              <a:spcAft>
                <a:spcPts val="400"/>
              </a:spcAft>
            </a:pPr>
            <a:r>
              <a:rPr sz="1800" b="1">
                <a:solidFill>
                  <a:srgbClr val="161B26"/>
                </a:solidFill>
                <a:latin typeface="Arial"/>
              </a:rPr>
              <a:t>A local SupportOps MCP server plus an ADK client agent that discovers and calls only lookup_runbook.</a:t>
            </a:r>
          </a:p>
        </p:txBody>
      </p:sp>
      <p:sp>
        <p:nvSpPr>
          <p:cNvPr id="13" name="TextBox 12"/>
          <p:cNvSpPr txBox="1"/>
          <p:nvPr/>
        </p:nvSpPr>
        <p:spPr>
          <a:xfrm>
            <a:off x="1005840" y="5321808"/>
            <a:ext cx="10241280" cy="320040"/>
          </a:xfrm>
          <a:prstGeom prst="rect">
            <a:avLst/>
          </a:prstGeom>
          <a:noFill/>
        </p:spPr>
        <p:txBody>
          <a:bodyPr wrap="square" anchor="t">
            <a:spAutoFit/>
          </a:bodyPr>
          <a:lstStyle/>
          <a:p>
            <a:pPr algn="l">
              <a:spcAft>
                <a:spcPts val="400"/>
              </a:spcAft>
            </a:pPr>
            <a:r>
              <a:rPr sz="1100" b="1">
                <a:solidFill>
                  <a:srgbClr val="5B6372"/>
                </a:solidFill>
                <a:latin typeface="Arial"/>
              </a:rPr>
              <a:t>Tools:  </a:t>
            </a:r>
            <a:r>
              <a:rPr sz="1100" b="0">
                <a:solidFill>
                  <a:srgbClr val="5B6372"/>
                </a:solidFill>
                <a:latin typeface="Arial"/>
              </a:rPr>
              <a:t>Model Context Protocol Python SDK, FastMCP, ADK McpToolset, stdio transport, ADK trace inspector</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Multi Agent Aplications with Gemini ADK (C829)  ·  C829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transition spd="med">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Discover Tools Through MCP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1</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Keep the boundary explicit: the MCP server declares a read-only schema, McpToolset discovers it over stdio, and tool_filter exposes only lookup_runbook to Gemini.</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MCP server:list_tools → McpToolset adapter → approved ADK tool → call_tool → source-labelled result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Multi Agent Aplications with Gemini ADK (C829)  ·  C829</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transition spd="med">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Discover Tools Through MCP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8803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2971800"/>
            <a:ext cx="10058400" cy="1783080"/>
          </a:xfrm>
          <a:prstGeom prst="rect">
            <a:avLst/>
          </a:prstGeom>
          <a:noFill/>
        </p:spPr>
        <p:txBody>
          <a:bodyPr wrap="square" anchor="t">
            <a:spAutoFit/>
          </a:bodyPr>
          <a:lstStyle/>
          <a:p>
            <a:pPr algn="l">
              <a:spcAft>
                <a:spcPts val="400"/>
              </a:spcAft>
            </a:pPr>
            <a:r>
              <a:rPr sz="1800" b="0">
                <a:solidFill>
                  <a:srgbClr val="161B26"/>
                </a:solidFill>
                <a:latin typeface="Arial"/>
              </a:rPr>
              <a:t>From the repository root, the portable pytest command must pass. In ADK Web, a technical query must invoke the discovered lookup_runbook tool, return source MCP-RB-TECH-02, and expose no other MCP capability. An unsupported topic must produce the bounded allowed-topics error.</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Multi Agent Aplications with Gemini ADK (C829)  ·  C829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transition spd="med">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Harden, Observe, and Package SupportOps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8</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161B26"/>
                </a:solidFill>
                <a:latin typeface="Arial"/>
              </a:rPr>
              <a:t>You apply an input callback before Gemini, a tool-argument callback before MCP execution, and structured logs that avoid prompt or secret content. You reintegrate the specialist team and guarded MCP specialist beneath one production supervisor, build deterministic policy tests and an executable evaluation catalogue, then package the application behind the ADK API server in a non-root container. The final review covers state externalisation, managed secrets, health checks, quotas, timeouts, deployment choices, and operational ownership.</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34840"/>
            <a:ext cx="10058400" cy="822960"/>
          </a:xfrm>
          <a:prstGeom prst="rect">
            <a:avLst/>
          </a:prstGeom>
          <a:noFill/>
        </p:spPr>
        <p:txBody>
          <a:bodyPr wrap="square" anchor="t">
            <a:spAutoFit/>
          </a:bodyPr>
          <a:lstStyle/>
          <a:p>
            <a:pPr algn="l">
              <a:spcAft>
                <a:spcPts val="400"/>
              </a:spcAft>
            </a:pPr>
            <a:r>
              <a:rPr sz="1400" b="1">
                <a:solidFill>
                  <a:srgbClr val="161B26"/>
                </a:solidFill>
                <a:latin typeface="Arial"/>
              </a:rPr>
              <a:t>A production-oriented multi-agent SupportOps supervisor with the specialist hierarchy, tested policy callbacks, bounded MCP access, structured telemetry, executable evaluation cases, and a Docker image definition.</a:t>
            </a:r>
          </a:p>
        </p:txBody>
      </p:sp>
      <p:sp>
        <p:nvSpPr>
          <p:cNvPr id="13" name="TextBox 12"/>
          <p:cNvSpPr txBox="1"/>
          <p:nvPr/>
        </p:nvSpPr>
        <p:spPr>
          <a:xfrm>
            <a:off x="1005840" y="5321808"/>
            <a:ext cx="10241280" cy="320040"/>
          </a:xfrm>
          <a:prstGeom prst="rect">
            <a:avLst/>
          </a:prstGeom>
          <a:noFill/>
        </p:spPr>
        <p:txBody>
          <a:bodyPr wrap="square" anchor="t">
            <a:spAutoFit/>
          </a:bodyPr>
          <a:lstStyle/>
          <a:p>
            <a:pPr algn="l">
              <a:spcAft>
                <a:spcPts val="400"/>
              </a:spcAft>
            </a:pPr>
            <a:r>
              <a:rPr sz="1100" b="1">
                <a:solidFill>
                  <a:srgbClr val="5B6372"/>
                </a:solidFill>
                <a:latin typeface="Arial"/>
              </a:rPr>
              <a:t>Tools:  </a:t>
            </a:r>
            <a:r>
              <a:rPr sz="1100" b="0">
                <a:solidFill>
                  <a:srgbClr val="5B6372"/>
                </a:solidFill>
                <a:latin typeface="Arial"/>
              </a:rPr>
              <a:t>ADK callbacks, Python logging, pytest, ADK API server, Docker, OpenTelemetry-ready configuration</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Multi Agent Aplications with Gemini ADK (C829)  ·  C829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transition spd="med">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Harden, Observe, and Package SupportOps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1</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Layer production controls around the agent loop: validate before the model, authorise before the tool, record metadata without sensitive content, test policy outcomes, then package the same versioned app.</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input guard → model → tool guard → MCP → result → trace/log → API server → container</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Multi Agent Aplications with Gemini ADK (C829)  ·  C829</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transition spd="med">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Harden, Observe, and Package SupportOps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8803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2971800"/>
            <a:ext cx="10058400" cy="1783080"/>
          </a:xfrm>
          <a:prstGeom prst="rect">
            <a:avLst/>
          </a:prstGeom>
          <a:noFill/>
        </p:spPr>
        <p:txBody>
          <a:bodyPr wrap="square" anchor="t">
            <a:spAutoFit/>
          </a:bodyPr>
          <a:lstStyle/>
          <a:p>
            <a:pPr algn="l">
              <a:spcAft>
                <a:spcPts val="400"/>
              </a:spcAft>
            </a:pPr>
            <a:r>
              <a:rPr sz="1400" b="0">
                <a:solidFill>
                  <a:srgbClr val="161B26"/>
                </a:solidFill>
                <a:latin typeface="Arial"/>
              </a:rPr>
              <a:t>From the repository root, the portable pytest command must pass and retain evidence/pytest.xml; test_production must show both the nested specialist team and guarded MCP specialist. The allowed technical prompt must call lookup_runbook with topic=technical; payroll must be blocked by the tool policy; the sensitive request must be answered by guard_model_input without a model or tool call. If Docker is available, support-ops:c829-v1.0 must build and expose the ADK API documentation on port 8080.</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Multi Agent Aplications with Gemini ADK (C829)  ·  C829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transition spd="med">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Recap — MCP and Production Design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You can now: LO5: Expose a bounded capability through an MCP server and connect it to ADK with filtered runtime discovery.</a:t>
            </a:r>
          </a:p>
        </p:txBody>
      </p:sp>
      <p:sp>
        <p:nvSpPr>
          <p:cNvPr id="12" name="Rectangle 11"/>
          <p:cNvSpPr/>
          <p:nvPr/>
        </p:nvSpPr>
        <p:spPr>
          <a:xfrm>
            <a:off x="777240" y="4059936"/>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You can now: LO6: Add layered guardrails, privacy-aware telemetry, evaluation cases, and reproducible container packaging.</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Multi Agent Aplications with Gemini ADK (C829)  ·  C829</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transition spd="med">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Multi Agent Aplications with Gemini ADK (C829)  ·  C829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transition spd="med">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What You Achieved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Agent Foundations</a:t>
            </a:r>
          </a:p>
          <a:p>
            <a:pPr algn="l">
              <a:spcAft>
                <a:spcPts val="300"/>
              </a:spcAft>
            </a:pPr>
            <a:r>
              <a:rPr sz="1300" b="0">
                <a:solidFill>
                  <a:srgbClr val="5B6372"/>
                </a:solidFill>
                <a:latin typeface="Arial"/>
              </a:rPr>
              <a:t>Explain the ADK agent lifecycle and configure a Gemini agent with clear instructions, typed input or output, and session-aware behaviour.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Reliable Tools</a:t>
            </a:r>
          </a:p>
          <a:p>
            <a:pPr algn="l">
              <a:spcAft>
                <a:spcPts val="300"/>
              </a:spcAft>
            </a:pPr>
            <a:r>
              <a:rPr sz="1300" b="0">
                <a:solidFill>
                  <a:srgbClr val="5B6372"/>
                </a:solidFill>
                <a:latin typeface="Arial"/>
              </a:rPr>
              <a:t>Build reliable function tools and API integrations with explicit schemas, validation, error handling, and safe secret management.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State &amp; Memory</a:t>
            </a:r>
          </a:p>
          <a:p>
            <a:pPr algn="l">
              <a:spcAft>
                <a:spcPts val="300"/>
              </a:spcAft>
            </a:pPr>
            <a:r>
              <a:rPr sz="1300" b="0">
                <a:solidFill>
                  <a:srgbClr val="5B6372"/>
                </a:solidFill>
                <a:latin typeface="Arial"/>
              </a:rPr>
              <a:t>Use session state and searchable memory to preserve relevant context without confusing conversation history, working state, and long-term knowledge.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Agent Teams</a:t>
            </a:r>
          </a:p>
          <a:p>
            <a:pPr algn="l">
              <a:spcAft>
                <a:spcPts val="300"/>
              </a:spcAft>
            </a:pPr>
            <a:r>
              <a:rPr sz="1300" b="0">
                <a:solidFill>
                  <a:srgbClr val="5B6372"/>
                </a:solidFill>
                <a:latin typeface="Arial"/>
              </a:rPr>
              <a:t>Design multi-agent systems with specialist roles, coordinator delegation, shared context, and deterministic graph workflows where control matters.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MCP &amp; Routing</a:t>
            </a:r>
          </a:p>
          <a:p>
            <a:pPr algn="l">
              <a:spcAft>
                <a:spcPts val="300"/>
              </a:spcAft>
            </a:pPr>
            <a:r>
              <a:rPr sz="1300" b="0">
                <a:solidFill>
                  <a:srgbClr val="5B6372"/>
                </a:solidFill>
                <a:latin typeface="Arial"/>
              </a:rPr>
              <a:t>Connect ADK agents to MCP capabilities and choose an appropriate routing strategy for tools, specialists, and workflow branches.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Production Readiness</a:t>
            </a:r>
          </a:p>
          <a:p>
            <a:pPr algn="l">
              <a:spcAft>
                <a:spcPts val="300"/>
              </a:spcAft>
            </a:pPr>
            <a:r>
              <a:rPr sz="1300" b="0">
                <a:solidFill>
                  <a:srgbClr val="5B6372"/>
                </a:solidFill>
                <a:latin typeface="Arial"/>
              </a:rPr>
              <a:t>Apply evaluation, observability, security guardrails, and deployment practices to prepare a multi-agent application for production use.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Multi Agent Aplications with Gemini ADK (C829)  ·  C829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transition spd="med">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WRAP-UP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Keep Practising After the Course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Re-run the labs on your own machine — repetition is what makes the skills stick.</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Apply the techniques to a real process or project in your own organisation.</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Your course material stays available at https://lms-tms.tertiaryinfotech.com/.</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Explore the follow-on courses at www.tertiarycourses.com.sg.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Multi Agent Aplications with Gemini ADK (C829)  ·  C829</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transition spd="med">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THANK YOU FOR ATTENDING</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You now have the practical skills from every lab in this course — keep applying them to your own work.</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Multi Agent Aplications with Gemini ADK (C829)  ·  C829</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